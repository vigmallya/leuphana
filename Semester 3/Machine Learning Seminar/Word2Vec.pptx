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Mulish"/>
      <p:regular r:id="rId26"/>
      <p:bold r:id="rId27"/>
      <p:italic r:id="rId28"/>
      <p:boldItalic r:id="rId29"/>
    </p:embeddedFont>
    <p:embeddedFont>
      <p:font typeface="Arial Narrow"/>
      <p:regular r:id="rId30"/>
      <p:bold r:id="rId31"/>
      <p:italic r:id="rId32"/>
      <p:boldItalic r:id="rId33"/>
    </p:embeddedFont>
    <p:embeddedFont>
      <p:font typeface="Proxima Nova Extrabold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490E6-99F6-4DFA-ADD9-A8A1B6EC85F1}">
  <a:tblStyle styleId="{535490E6-99F6-4DFA-ADD9-A8A1B6EC8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ulish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ulish-italic.fntdata"/><Relationship Id="rId27" Type="http://schemas.openxmlformats.org/officeDocument/2006/relationships/font" Target="fonts/Mulish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ulish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Narrow-bold.fntdata"/><Relationship Id="rId30" Type="http://schemas.openxmlformats.org/officeDocument/2006/relationships/font" Target="fonts/ArialNarrow-regular.fntdata"/><Relationship Id="rId11" Type="http://schemas.openxmlformats.org/officeDocument/2006/relationships/slide" Target="slides/slide5.xml"/><Relationship Id="rId33" Type="http://schemas.openxmlformats.org/officeDocument/2006/relationships/font" Target="fonts/ArialNarrow-boldItalic.fntdata"/><Relationship Id="rId10" Type="http://schemas.openxmlformats.org/officeDocument/2006/relationships/slide" Target="slides/slide4.xml"/><Relationship Id="rId32" Type="http://schemas.openxmlformats.org/officeDocument/2006/relationships/font" Target="fonts/ArialNarrow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roximaNovaExtra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17d759c91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17d759c91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17d759c91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17d759c91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17d759c91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17d759c91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17d759c91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17d759c91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17d759c91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17d759c91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18e513eaf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18e513eaf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17d759c91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17d759c91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117d759c91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117d759c91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117d759c91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117d759c91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117d759c91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117d759c91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118e513eaf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118e513ea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118e513eaf_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118e513eaf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1196844422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1196844422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1196844422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1196844422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www.cs.cmu.edu/~dst/WordEmbeddingDemo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s://arxiv.org/pdf/1301.3781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towardsdatascience.com/a-guide-to-word-embeddings-8a23817ab60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32200"/>
            <a:ext cx="8520600" cy="61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Efficient Estimation of Word Representations in Vector Space</a:t>
            </a:r>
            <a:endParaRPr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4506500" y="4603700"/>
            <a:ext cx="455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Mikolov, T., 2013. Efficient estimation of word representations in vector space. </a:t>
            </a:r>
            <a:r>
              <a:rPr i="1" lang="en" sz="1100">
                <a:solidFill>
                  <a:schemeClr val="dk1"/>
                </a:solidFill>
              </a:rPr>
              <a:t>arXiv preprint arXiv:1301.3781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i="1" lang="en" sz="1100">
                <a:solidFill>
                  <a:schemeClr val="dk1"/>
                </a:solidFill>
              </a:rPr>
              <a:t>3781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6549" y="1042900"/>
            <a:ext cx="2630925" cy="9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26650" y="4682150"/>
            <a:ext cx="2687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Vignesh Mallya, 4 Nov 2024 (Student 1)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90425"/>
            <a:ext cx="8520600" cy="120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Word2Vec? and Why?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540950" y="3127075"/>
            <a:ext cx="69315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Example:	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</a:t>
            </a:r>
            <a:r>
              <a:rPr lang="en" sz="1800" u="sng">
                <a:solidFill>
                  <a:schemeClr val="dk1"/>
                </a:solidFill>
              </a:rPr>
              <a:t>kid</a:t>
            </a:r>
            <a:r>
              <a:rPr lang="en" sz="1800">
                <a:solidFill>
                  <a:schemeClr val="dk1"/>
                </a:solidFill>
              </a:rPr>
              <a:t> said he would grow up to be superman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</a:t>
            </a:r>
            <a:r>
              <a:rPr lang="en" sz="1800" u="sng">
                <a:solidFill>
                  <a:schemeClr val="dk1"/>
                </a:solidFill>
              </a:rPr>
              <a:t>child</a:t>
            </a:r>
            <a:r>
              <a:rPr lang="en" sz="1800">
                <a:solidFill>
                  <a:schemeClr val="dk1"/>
                </a:solidFill>
              </a:rPr>
              <a:t> said he would grow up to be superman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15"/>
          <p:cNvGraphicFramePr/>
          <p:nvPr/>
        </p:nvGraphicFramePr>
        <p:xfrm>
          <a:off x="800075" y="66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Attribute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Battle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Horse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King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Man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Queen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Woman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</a:rPr>
                        <a:t>Authority</a:t>
                      </a:r>
                      <a:endParaRPr sz="1000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</a:rPr>
                        <a:t>Event</a:t>
                      </a:r>
                      <a:endParaRPr sz="1000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</a:rPr>
                        <a:t>Has Tail?</a:t>
                      </a:r>
                      <a:endParaRPr sz="1000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</a:rPr>
                        <a:t>Rich</a:t>
                      </a:r>
                      <a:endParaRPr sz="1000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</a:rPr>
                        <a:t>Gender</a:t>
                      </a:r>
                      <a:endParaRPr sz="1000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Google Shape;70;p15"/>
          <p:cNvGraphicFramePr/>
          <p:nvPr/>
        </p:nvGraphicFramePr>
        <p:xfrm>
          <a:off x="1506950" y="28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675875"/>
              </a:tblGrid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King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Google Shape;71;p15"/>
          <p:cNvGraphicFramePr/>
          <p:nvPr/>
        </p:nvGraphicFramePr>
        <p:xfrm>
          <a:off x="2834350" y="28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675875"/>
              </a:tblGrid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Man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2" name="Google Shape;72;p15"/>
          <p:cNvGraphicFramePr/>
          <p:nvPr/>
        </p:nvGraphicFramePr>
        <p:xfrm>
          <a:off x="4161750" y="28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675875"/>
              </a:tblGrid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Woman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15"/>
          <p:cNvGraphicFramePr/>
          <p:nvPr/>
        </p:nvGraphicFramePr>
        <p:xfrm>
          <a:off x="6961175" y="28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675875"/>
              </a:tblGrid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Queen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" name="Google Shape;74;p15"/>
          <p:cNvGraphicFramePr/>
          <p:nvPr/>
        </p:nvGraphicFramePr>
        <p:xfrm>
          <a:off x="5489150" y="284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675875"/>
              </a:tblGrid>
              <a:tr h="34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p15"/>
          <p:cNvSpPr txBox="1"/>
          <p:nvPr/>
        </p:nvSpPr>
        <p:spPr>
          <a:xfrm>
            <a:off x="2374525" y="3541550"/>
            <a:ext cx="31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-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678638" y="3623325"/>
            <a:ext cx="3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+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006038" y="3623325"/>
            <a:ext cx="3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=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405738" y="3623325"/>
            <a:ext cx="3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≈</a:t>
            </a:r>
            <a:endParaRPr sz="2000">
              <a:solidFill>
                <a:schemeClr val="dk2"/>
              </a:solidFill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225440" y="335282"/>
            <a:ext cx="2184185" cy="250145"/>
            <a:chOff x="304400" y="1038050"/>
            <a:chExt cx="5191788" cy="781949"/>
          </a:xfrm>
        </p:grpSpPr>
        <p:sp>
          <p:nvSpPr>
            <p:cNvPr id="80" name="Google Shape;80;p15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980000"/>
            </a:solidFill>
            <a:ln cap="flat" cmpd="sng" w="952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Word Embedding Intuition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00" y="904275"/>
            <a:ext cx="8839204" cy="348734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4758725" y="4499900"/>
            <a:ext cx="444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 </a:t>
            </a:r>
            <a:r>
              <a:rPr lang="en" sz="11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https://www.cs.cmu.edu/~dst/WordEmbeddingDemo/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5632869" y="543150"/>
            <a:ext cx="187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Vector </a:t>
            </a:r>
            <a:r>
              <a:rPr b="1" lang="en" sz="1300">
                <a:solidFill>
                  <a:schemeClr val="dk1"/>
                </a:solidFill>
              </a:rPr>
              <a:t>Visualization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070575" y="543150"/>
            <a:ext cx="208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Word Vector Projection</a:t>
            </a:r>
            <a:endParaRPr b="1" sz="1300">
              <a:solidFill>
                <a:schemeClr val="dk1"/>
              </a:solidFill>
            </a:endParaRPr>
          </a:p>
        </p:txBody>
      </p:sp>
      <p:grpSp>
        <p:nvGrpSpPr>
          <p:cNvPr id="91" name="Google Shape;91;p16"/>
          <p:cNvGrpSpPr/>
          <p:nvPr/>
        </p:nvGrpSpPr>
        <p:grpSpPr>
          <a:xfrm>
            <a:off x="225440" y="335282"/>
            <a:ext cx="2184185" cy="250145"/>
            <a:chOff x="304400" y="1038050"/>
            <a:chExt cx="5191788" cy="781949"/>
          </a:xfrm>
        </p:grpSpPr>
        <p:sp>
          <p:nvSpPr>
            <p:cNvPr id="92" name="Google Shape;92;p1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Word Embedding Intuition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468025" y="829325"/>
            <a:ext cx="380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arenR"/>
            </a:pPr>
            <a:r>
              <a:rPr b="1" lang="en" sz="1500">
                <a:solidFill>
                  <a:schemeClr val="dk1"/>
                </a:solidFill>
              </a:rPr>
              <a:t>CBOW: Continuous Bag Of Words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066550" y="8293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2)  Skip Gram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97750" y="1364375"/>
            <a:ext cx="34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lang="en" sz="1200">
                <a:solidFill>
                  <a:schemeClr val="dk1"/>
                </a:solidFill>
              </a:rPr>
              <a:t>Given context words predict target word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959450" y="1348950"/>
            <a:ext cx="32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❖"/>
            </a:pPr>
            <a:r>
              <a:rPr lang="en" sz="1200">
                <a:solidFill>
                  <a:schemeClr val="dk1"/>
                </a:solidFill>
              </a:rPr>
              <a:t>Given the target predict context words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2529600" y="2153663"/>
            <a:ext cx="40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Sentence</a:t>
            </a:r>
            <a:r>
              <a:rPr lang="en" sz="1600">
                <a:solidFill>
                  <a:schemeClr val="dk1"/>
                </a:solidFill>
              </a:rPr>
              <a:t>: "</a:t>
            </a:r>
            <a:r>
              <a:rPr lang="en" sz="1600">
                <a:solidFill>
                  <a:schemeClr val="dk1"/>
                </a:solidFill>
              </a:rPr>
              <a:t>Quick brown fox jump over</a:t>
            </a:r>
            <a:r>
              <a:rPr lang="en" sz="1600">
                <a:solidFill>
                  <a:schemeClr val="dk1"/>
                </a:solidFill>
              </a:rPr>
              <a:t>"</a:t>
            </a:r>
            <a:endParaRPr sz="1600">
              <a:solidFill>
                <a:schemeClr val="dk2"/>
              </a:solidFill>
            </a:endParaRPr>
          </a:p>
        </p:txBody>
      </p:sp>
      <p:graphicFrame>
        <p:nvGraphicFramePr>
          <p:cNvPr id="104" name="Google Shape;104;p17"/>
          <p:cNvGraphicFramePr/>
          <p:nvPr/>
        </p:nvGraphicFramePr>
        <p:xfrm>
          <a:off x="509075" y="31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760500"/>
                <a:gridCol w="760500"/>
                <a:gridCol w="760500"/>
                <a:gridCol w="760500"/>
                <a:gridCol w="76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brown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fox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jump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over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7"/>
          <p:cNvSpPr/>
          <p:nvPr/>
        </p:nvSpPr>
        <p:spPr>
          <a:xfrm flipH="1" rot="5400000">
            <a:off x="3467050" y="3255950"/>
            <a:ext cx="201000" cy="781500"/>
          </a:xfrm>
          <a:prstGeom prst="leftBrace">
            <a:avLst>
              <a:gd fmla="val 50000" name="adj1"/>
              <a:gd fmla="val 5138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 flipH="1" rot="5400000">
            <a:off x="1181350" y="3255950"/>
            <a:ext cx="201000" cy="781500"/>
          </a:xfrm>
          <a:prstGeom prst="leftBrace">
            <a:avLst>
              <a:gd fmla="val 50000" name="adj1"/>
              <a:gd fmla="val 5138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7"/>
          <p:cNvCxnSpPr/>
          <p:nvPr/>
        </p:nvCxnSpPr>
        <p:spPr>
          <a:xfrm rot="10800000">
            <a:off x="2404875" y="3597750"/>
            <a:ext cx="4800" cy="2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7"/>
          <p:cNvSpPr txBox="1"/>
          <p:nvPr/>
        </p:nvSpPr>
        <p:spPr>
          <a:xfrm>
            <a:off x="916950" y="3661300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Context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202950" y="3661300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Context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2059950" y="3737500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Target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11" name="Google Shape;111;p17"/>
          <p:cNvGraphicFramePr/>
          <p:nvPr/>
        </p:nvGraphicFramePr>
        <p:xfrm>
          <a:off x="4869525" y="31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{535490E6-99F6-4DFA-ADD9-A8A1B6EC85F1}</a:tableStyleId>
              </a:tblPr>
              <a:tblGrid>
                <a:gridCol w="760500"/>
                <a:gridCol w="760500"/>
                <a:gridCol w="760500"/>
                <a:gridCol w="760500"/>
                <a:gridCol w="76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brown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fox 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jump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over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7"/>
          <p:cNvSpPr/>
          <p:nvPr/>
        </p:nvSpPr>
        <p:spPr>
          <a:xfrm flipH="1" rot="5400000">
            <a:off x="7827500" y="3255950"/>
            <a:ext cx="201000" cy="781500"/>
          </a:xfrm>
          <a:prstGeom prst="leftBrace">
            <a:avLst>
              <a:gd fmla="val 50000" name="adj1"/>
              <a:gd fmla="val 5138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 flipH="1" rot="5400000">
            <a:off x="5541800" y="3255950"/>
            <a:ext cx="201000" cy="781500"/>
          </a:xfrm>
          <a:prstGeom prst="leftBrace">
            <a:avLst>
              <a:gd fmla="val 50000" name="adj1"/>
              <a:gd fmla="val 5138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17"/>
          <p:cNvCxnSpPr/>
          <p:nvPr/>
        </p:nvCxnSpPr>
        <p:spPr>
          <a:xfrm rot="10800000">
            <a:off x="6765325" y="3597750"/>
            <a:ext cx="4800" cy="2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7"/>
          <p:cNvSpPr txBox="1"/>
          <p:nvPr/>
        </p:nvSpPr>
        <p:spPr>
          <a:xfrm>
            <a:off x="5277400" y="3661300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Target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7563400" y="3661300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Target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420400" y="3737500"/>
            <a:ext cx="7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Context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238739" y="366553"/>
            <a:ext cx="2184185" cy="250145"/>
            <a:chOff x="304400" y="1038050"/>
            <a:chExt cx="5191788" cy="781949"/>
          </a:xfrm>
        </p:grpSpPr>
        <p:sp>
          <p:nvSpPr>
            <p:cNvPr id="119" name="Google Shape;119;p17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Model Architectures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21" name="Google Shape;121;p17"/>
          <p:cNvSpPr/>
          <p:nvPr/>
        </p:nvSpPr>
        <p:spPr>
          <a:xfrm>
            <a:off x="452896" y="151152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Word2Vec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8"/>
          <p:cNvGrpSpPr/>
          <p:nvPr/>
        </p:nvGrpSpPr>
        <p:grpSpPr>
          <a:xfrm>
            <a:off x="1212499" y="791347"/>
            <a:ext cx="330035" cy="815199"/>
            <a:chOff x="1767700" y="652150"/>
            <a:chExt cx="360300" cy="1017600"/>
          </a:xfrm>
        </p:grpSpPr>
        <p:sp>
          <p:nvSpPr>
            <p:cNvPr id="128" name="Google Shape;128;p18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1212499" y="3471932"/>
            <a:ext cx="330035" cy="815199"/>
            <a:chOff x="1767700" y="652150"/>
            <a:chExt cx="360300" cy="1017600"/>
          </a:xfrm>
        </p:grpSpPr>
        <p:sp>
          <p:nvSpPr>
            <p:cNvPr id="135" name="Google Shape;135;p18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1212499" y="1684870"/>
            <a:ext cx="330035" cy="815199"/>
            <a:chOff x="1767700" y="652150"/>
            <a:chExt cx="360300" cy="1017600"/>
          </a:xfrm>
        </p:grpSpPr>
        <p:sp>
          <p:nvSpPr>
            <p:cNvPr id="142" name="Google Shape;142;p18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1212499" y="2578400"/>
            <a:ext cx="330035" cy="815199"/>
            <a:chOff x="1767700" y="652150"/>
            <a:chExt cx="360300" cy="1017600"/>
          </a:xfrm>
        </p:grpSpPr>
        <p:sp>
          <p:nvSpPr>
            <p:cNvPr id="149" name="Google Shape;149;p18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4178074" y="2164157"/>
            <a:ext cx="330035" cy="815199"/>
            <a:chOff x="1767700" y="652150"/>
            <a:chExt cx="360300" cy="1017600"/>
          </a:xfrm>
        </p:grpSpPr>
        <p:sp>
          <p:nvSpPr>
            <p:cNvPr id="156" name="Google Shape;156;p18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rgbClr val="43434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2721175" y="2324550"/>
            <a:ext cx="330000" cy="494400"/>
            <a:chOff x="2545175" y="2358100"/>
            <a:chExt cx="330000" cy="494400"/>
          </a:xfrm>
        </p:grpSpPr>
        <p:sp>
          <p:nvSpPr>
            <p:cNvPr id="163" name="Google Shape;163;p18"/>
            <p:cNvSpPr/>
            <p:nvPr/>
          </p:nvSpPr>
          <p:spPr>
            <a:xfrm>
              <a:off x="2545175" y="2358100"/>
              <a:ext cx="330000" cy="494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2550670" y="2358100"/>
              <a:ext cx="319043" cy="1615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2550670" y="2519602"/>
              <a:ext cx="319043" cy="1615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2550670" y="2681104"/>
              <a:ext cx="319043" cy="1615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7" name="Google Shape;167;p18"/>
          <p:cNvCxnSpPr>
            <a:stCxn id="133" idx="3"/>
            <a:endCxn id="133" idx="3"/>
          </p:cNvCxnSpPr>
          <p:nvPr/>
        </p:nvCxnSpPr>
        <p:spPr>
          <a:xfrm>
            <a:off x="1537038" y="1525796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8"/>
          <p:cNvCxnSpPr/>
          <p:nvPr/>
        </p:nvCxnSpPr>
        <p:spPr>
          <a:xfrm>
            <a:off x="1537950" y="788700"/>
            <a:ext cx="1194600" cy="15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8"/>
          <p:cNvCxnSpPr/>
          <p:nvPr/>
        </p:nvCxnSpPr>
        <p:spPr>
          <a:xfrm>
            <a:off x="1541125" y="1601775"/>
            <a:ext cx="1182300" cy="12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>
            <a:stCxn id="143" idx="3"/>
            <a:endCxn id="143" idx="3"/>
          </p:cNvCxnSpPr>
          <p:nvPr/>
        </p:nvCxnSpPr>
        <p:spPr>
          <a:xfrm>
            <a:off x="1537038" y="1765621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>
            <a:off x="1544100" y="1684875"/>
            <a:ext cx="1185000" cy="6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/>
          <p:nvPr/>
        </p:nvCxnSpPr>
        <p:spPr>
          <a:xfrm>
            <a:off x="1541125" y="2500075"/>
            <a:ext cx="1194300" cy="3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8"/>
          <p:cNvCxnSpPr/>
          <p:nvPr/>
        </p:nvCxnSpPr>
        <p:spPr>
          <a:xfrm flipH="1" rot="10800000">
            <a:off x="1547125" y="2324900"/>
            <a:ext cx="1185000" cy="2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8"/>
          <p:cNvCxnSpPr/>
          <p:nvPr/>
        </p:nvCxnSpPr>
        <p:spPr>
          <a:xfrm flipH="1" rot="10800000">
            <a:off x="1548475" y="2816100"/>
            <a:ext cx="1182000" cy="57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8"/>
          <p:cNvCxnSpPr/>
          <p:nvPr/>
        </p:nvCxnSpPr>
        <p:spPr>
          <a:xfrm flipH="1" rot="10800000">
            <a:off x="1541125" y="2330425"/>
            <a:ext cx="1186800" cy="114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8"/>
          <p:cNvCxnSpPr/>
          <p:nvPr/>
        </p:nvCxnSpPr>
        <p:spPr>
          <a:xfrm flipH="1" rot="10800000">
            <a:off x="1541070" y="2816805"/>
            <a:ext cx="1186500" cy="14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8"/>
          <p:cNvCxnSpPr/>
          <p:nvPr/>
        </p:nvCxnSpPr>
        <p:spPr>
          <a:xfrm flipH="1" rot="10800000">
            <a:off x="3051175" y="2167350"/>
            <a:ext cx="1133400" cy="1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8"/>
          <p:cNvCxnSpPr/>
          <p:nvPr/>
        </p:nvCxnSpPr>
        <p:spPr>
          <a:xfrm>
            <a:off x="3051070" y="2812805"/>
            <a:ext cx="11394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8"/>
          <p:cNvSpPr txBox="1"/>
          <p:nvPr/>
        </p:nvSpPr>
        <p:spPr>
          <a:xfrm>
            <a:off x="972625" y="71515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10000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972625" y="159955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01000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972625" y="250570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</a:t>
            </a: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0010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972625" y="3395725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</a:t>
            </a: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0001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613250" y="1294500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2426271" y="2905950"/>
            <a:ext cx="1182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N-</a:t>
            </a:r>
            <a:r>
              <a:rPr lang="en" sz="1100">
                <a:solidFill>
                  <a:schemeClr val="dk2"/>
                </a:solidFill>
              </a:rPr>
              <a:t>dimensional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820225" y="4289250"/>
            <a:ext cx="1182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One Hot E</a:t>
            </a:r>
            <a:r>
              <a:rPr lang="en" sz="1100">
                <a:solidFill>
                  <a:schemeClr val="dk2"/>
                </a:solidFill>
              </a:rPr>
              <a:t>ncoded</a:t>
            </a:r>
            <a:r>
              <a:rPr lang="en" sz="1100">
                <a:solidFill>
                  <a:schemeClr val="dk2"/>
                </a:solidFill>
              </a:rPr>
              <a:t>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4027487" y="2947675"/>
            <a:ext cx="78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Softmax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4217200" y="1829475"/>
            <a:ext cx="2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75760"/>
                </a:solidFill>
                <a:highlight>
                  <a:srgbClr val="FFFFFF"/>
                </a:highlight>
              </a:rPr>
              <a:t>ŷ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076875" y="1829475"/>
            <a:ext cx="2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75760"/>
                </a:solidFill>
                <a:highlight>
                  <a:srgbClr val="FFFFFF"/>
                </a:highlight>
              </a:rPr>
              <a:t>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5078975" y="2082524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00100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594600" y="19903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594600" y="26276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1613250" y="32785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3343875" y="23609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N*V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2447917" y="1810089"/>
            <a:ext cx="90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Hidden </a:t>
            </a:r>
            <a:r>
              <a:rPr lang="en" sz="1100">
                <a:solidFill>
                  <a:schemeClr val="dk2"/>
                </a:solidFill>
              </a:rPr>
              <a:t>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3883725" y="1654471"/>
            <a:ext cx="118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Output </a:t>
            </a:r>
            <a:r>
              <a:rPr lang="en" sz="1100">
                <a:solidFill>
                  <a:schemeClr val="dk2"/>
                </a:solidFill>
              </a:rPr>
              <a:t>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4120788" y="3294100"/>
            <a:ext cx="597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V-dim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5065725" y="1087500"/>
            <a:ext cx="39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Sentence</a:t>
            </a:r>
            <a:r>
              <a:rPr lang="en" sz="1600">
                <a:solidFill>
                  <a:schemeClr val="dk1"/>
                </a:solidFill>
              </a:rPr>
              <a:t>: "</a:t>
            </a:r>
            <a:r>
              <a:rPr lang="en" sz="1600">
                <a:solidFill>
                  <a:schemeClr val="dk1"/>
                </a:solidFill>
              </a:rPr>
              <a:t>Quick brown fox jump over</a:t>
            </a:r>
            <a:r>
              <a:rPr lang="en" sz="1600">
                <a:solidFill>
                  <a:schemeClr val="dk1"/>
                </a:solidFill>
              </a:rPr>
              <a:t>"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163225" y="67325"/>
            <a:ext cx="337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5317350" y="1689425"/>
            <a:ext cx="149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Minimum Loss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683646" y="1839102"/>
            <a:ext cx="35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≈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790600" y="1774950"/>
            <a:ext cx="596983" cy="178750"/>
          </a:xfrm>
          <a:custGeom>
            <a:rect b="b" l="l" r="r" t="t"/>
            <a:pathLst>
              <a:path extrusionOk="0" h="7150" w="20664">
                <a:moveTo>
                  <a:pt x="20664" y="3114"/>
                </a:moveTo>
                <a:cubicBezTo>
                  <a:pt x="19238" y="2603"/>
                  <a:pt x="14799" y="235"/>
                  <a:pt x="12108" y="47"/>
                </a:cubicBezTo>
                <a:cubicBezTo>
                  <a:pt x="9417" y="-141"/>
                  <a:pt x="6538" y="800"/>
                  <a:pt x="4520" y="1984"/>
                </a:cubicBezTo>
                <a:cubicBezTo>
                  <a:pt x="2502" y="3168"/>
                  <a:pt x="753" y="6289"/>
                  <a:pt x="0" y="715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202" name="Google Shape;202;p18"/>
          <p:cNvCxnSpPr/>
          <p:nvPr/>
        </p:nvCxnSpPr>
        <p:spPr>
          <a:xfrm flipH="1" rot="10800000">
            <a:off x="2314575" y="3923263"/>
            <a:ext cx="1647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3" name="Google Shape;203;p18"/>
          <p:cNvSpPr txBox="1"/>
          <p:nvPr/>
        </p:nvSpPr>
        <p:spPr>
          <a:xfrm>
            <a:off x="4717800" y="2955544"/>
            <a:ext cx="105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Actual target word</a:t>
            </a:r>
            <a:endParaRPr sz="1100">
              <a:solidFill>
                <a:schemeClr val="dk2"/>
              </a:solidFill>
            </a:endParaRPr>
          </a:p>
        </p:txBody>
      </p:sp>
      <p:grpSp>
        <p:nvGrpSpPr>
          <p:cNvPr id="204" name="Google Shape;204;p18"/>
          <p:cNvGrpSpPr/>
          <p:nvPr/>
        </p:nvGrpSpPr>
        <p:grpSpPr>
          <a:xfrm>
            <a:off x="2340825" y="723976"/>
            <a:ext cx="1671178" cy="3475109"/>
            <a:chOff x="2340825" y="723976"/>
            <a:chExt cx="1671178" cy="3475109"/>
          </a:xfrm>
        </p:grpSpPr>
        <p:cxnSp>
          <p:nvCxnSpPr>
            <p:cNvPr id="205" name="Google Shape;205;p18"/>
            <p:cNvCxnSpPr/>
            <p:nvPr/>
          </p:nvCxnSpPr>
          <p:spPr>
            <a:xfrm flipH="1" rot="10800000">
              <a:off x="2340825" y="1026150"/>
              <a:ext cx="1647000" cy="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" name="Google Shape;206;p18"/>
            <p:cNvSpPr txBox="1"/>
            <p:nvPr/>
          </p:nvSpPr>
          <p:spPr>
            <a:xfrm>
              <a:off x="2409287" y="3829784"/>
              <a:ext cx="149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Back Propagation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2365003" y="723976"/>
              <a:ext cx="164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Forward</a:t>
              </a:r>
              <a:r>
                <a:rPr lang="en" sz="1200">
                  <a:solidFill>
                    <a:schemeClr val="dk2"/>
                  </a:solidFill>
                </a:rPr>
                <a:t> Propagation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208" name="Google Shape;208;p18"/>
          <p:cNvSpPr txBox="1"/>
          <p:nvPr/>
        </p:nvSpPr>
        <p:spPr>
          <a:xfrm>
            <a:off x="5027175" y="3923275"/>
            <a:ext cx="149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Word </a:t>
            </a:r>
            <a:r>
              <a:rPr lang="en" sz="1100">
                <a:solidFill>
                  <a:schemeClr val="dk2"/>
                </a:solidFill>
              </a:rPr>
              <a:t>Embedding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948675" y="463150"/>
            <a:ext cx="119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Input Layer 1*V </a:t>
            </a:r>
            <a:endParaRPr sz="1100">
              <a:solidFill>
                <a:schemeClr val="dk2"/>
              </a:solidFill>
            </a:endParaRPr>
          </a:p>
        </p:txBody>
      </p:sp>
      <p:grpSp>
        <p:nvGrpSpPr>
          <p:cNvPr id="210" name="Google Shape;210;p18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211" name="Google Shape;211;p18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CBOW: Continuous Bag of Words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13" name="Google Shape;213;p18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Model Architecture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214" name="Google Shape;2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3234175" y="2791650"/>
            <a:ext cx="1807450" cy="1311700"/>
          </a:xfrm>
          <a:custGeom>
            <a:rect b="b" l="l" r="r" t="t"/>
            <a:pathLst>
              <a:path extrusionOk="0" h="52468" w="72298">
                <a:moveTo>
                  <a:pt x="72298" y="52468"/>
                </a:moveTo>
                <a:cubicBezTo>
                  <a:pt x="68167" y="50884"/>
                  <a:pt x="54809" y="46684"/>
                  <a:pt x="47510" y="42966"/>
                </a:cubicBezTo>
                <a:cubicBezTo>
                  <a:pt x="40211" y="39248"/>
                  <a:pt x="32637" y="34979"/>
                  <a:pt x="28506" y="30159"/>
                </a:cubicBezTo>
                <a:cubicBezTo>
                  <a:pt x="24375" y="25339"/>
                  <a:pt x="26371" y="18591"/>
                  <a:pt x="22722" y="14046"/>
                </a:cubicBezTo>
                <a:cubicBezTo>
                  <a:pt x="19073" y="9502"/>
                  <a:pt x="10397" y="5233"/>
                  <a:pt x="6610" y="2892"/>
                </a:cubicBezTo>
                <a:cubicBezTo>
                  <a:pt x="2823" y="551"/>
                  <a:pt x="1102" y="482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9"/>
          <p:cNvGrpSpPr/>
          <p:nvPr/>
        </p:nvGrpSpPr>
        <p:grpSpPr>
          <a:xfrm>
            <a:off x="1212499" y="791347"/>
            <a:ext cx="330035" cy="815199"/>
            <a:chOff x="1767700" y="652150"/>
            <a:chExt cx="360300" cy="1017600"/>
          </a:xfrm>
        </p:grpSpPr>
        <p:sp>
          <p:nvSpPr>
            <p:cNvPr id="221" name="Google Shape;221;p19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1212499" y="3471932"/>
            <a:ext cx="330035" cy="815199"/>
            <a:chOff x="1767700" y="652150"/>
            <a:chExt cx="360300" cy="1017600"/>
          </a:xfrm>
        </p:grpSpPr>
        <p:sp>
          <p:nvSpPr>
            <p:cNvPr id="228" name="Google Shape;228;p19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19"/>
          <p:cNvGrpSpPr/>
          <p:nvPr/>
        </p:nvGrpSpPr>
        <p:grpSpPr>
          <a:xfrm>
            <a:off x="1212499" y="1684870"/>
            <a:ext cx="330035" cy="815199"/>
            <a:chOff x="1767700" y="652150"/>
            <a:chExt cx="360300" cy="1017600"/>
          </a:xfrm>
        </p:grpSpPr>
        <p:sp>
          <p:nvSpPr>
            <p:cNvPr id="235" name="Google Shape;235;p19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1212499" y="2578400"/>
            <a:ext cx="330035" cy="815199"/>
            <a:chOff x="1767700" y="652150"/>
            <a:chExt cx="360300" cy="1017600"/>
          </a:xfrm>
        </p:grpSpPr>
        <p:sp>
          <p:nvSpPr>
            <p:cNvPr id="242" name="Google Shape;242;p19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19"/>
          <p:cNvGrpSpPr/>
          <p:nvPr/>
        </p:nvGrpSpPr>
        <p:grpSpPr>
          <a:xfrm>
            <a:off x="4178074" y="2164157"/>
            <a:ext cx="330035" cy="815199"/>
            <a:chOff x="1767700" y="652150"/>
            <a:chExt cx="360300" cy="1017600"/>
          </a:xfrm>
        </p:grpSpPr>
        <p:sp>
          <p:nvSpPr>
            <p:cNvPr id="249" name="Google Shape;249;p19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rgbClr val="43434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19"/>
          <p:cNvGrpSpPr/>
          <p:nvPr/>
        </p:nvGrpSpPr>
        <p:grpSpPr>
          <a:xfrm>
            <a:off x="2721175" y="2324550"/>
            <a:ext cx="330000" cy="494400"/>
            <a:chOff x="2545175" y="2358100"/>
            <a:chExt cx="330000" cy="494400"/>
          </a:xfrm>
        </p:grpSpPr>
        <p:sp>
          <p:nvSpPr>
            <p:cNvPr id="256" name="Google Shape;256;p19"/>
            <p:cNvSpPr/>
            <p:nvPr/>
          </p:nvSpPr>
          <p:spPr>
            <a:xfrm>
              <a:off x="2545175" y="2358100"/>
              <a:ext cx="330000" cy="494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2550670" y="2358100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2550670" y="2519602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2550670" y="2681104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0" name="Google Shape;260;p19"/>
          <p:cNvCxnSpPr>
            <a:stCxn id="226" idx="3"/>
            <a:endCxn id="226" idx="3"/>
          </p:cNvCxnSpPr>
          <p:nvPr/>
        </p:nvCxnSpPr>
        <p:spPr>
          <a:xfrm>
            <a:off x="1537038" y="1525796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9"/>
          <p:cNvCxnSpPr/>
          <p:nvPr/>
        </p:nvCxnSpPr>
        <p:spPr>
          <a:xfrm>
            <a:off x="1537950" y="788700"/>
            <a:ext cx="1194600" cy="15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9"/>
          <p:cNvCxnSpPr/>
          <p:nvPr/>
        </p:nvCxnSpPr>
        <p:spPr>
          <a:xfrm>
            <a:off x="1541125" y="1601775"/>
            <a:ext cx="1182300" cy="12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9"/>
          <p:cNvCxnSpPr>
            <a:stCxn id="236" idx="3"/>
            <a:endCxn id="236" idx="3"/>
          </p:cNvCxnSpPr>
          <p:nvPr/>
        </p:nvCxnSpPr>
        <p:spPr>
          <a:xfrm>
            <a:off x="1537038" y="1765621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19"/>
          <p:cNvCxnSpPr/>
          <p:nvPr/>
        </p:nvCxnSpPr>
        <p:spPr>
          <a:xfrm>
            <a:off x="1544100" y="1684875"/>
            <a:ext cx="1185000" cy="6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9"/>
          <p:cNvCxnSpPr/>
          <p:nvPr/>
        </p:nvCxnSpPr>
        <p:spPr>
          <a:xfrm>
            <a:off x="1541125" y="2500075"/>
            <a:ext cx="1194300" cy="3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9"/>
          <p:cNvCxnSpPr/>
          <p:nvPr/>
        </p:nvCxnSpPr>
        <p:spPr>
          <a:xfrm flipH="1" rot="10800000">
            <a:off x="1547125" y="2324900"/>
            <a:ext cx="1185000" cy="2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9"/>
          <p:cNvCxnSpPr/>
          <p:nvPr/>
        </p:nvCxnSpPr>
        <p:spPr>
          <a:xfrm flipH="1" rot="10800000">
            <a:off x="1548475" y="2816100"/>
            <a:ext cx="1182000" cy="57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19"/>
          <p:cNvCxnSpPr/>
          <p:nvPr/>
        </p:nvCxnSpPr>
        <p:spPr>
          <a:xfrm flipH="1" rot="10800000">
            <a:off x="1541125" y="2330425"/>
            <a:ext cx="1186800" cy="114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19"/>
          <p:cNvCxnSpPr/>
          <p:nvPr/>
        </p:nvCxnSpPr>
        <p:spPr>
          <a:xfrm flipH="1" rot="10800000">
            <a:off x="1541070" y="2816805"/>
            <a:ext cx="1186500" cy="14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19"/>
          <p:cNvCxnSpPr/>
          <p:nvPr/>
        </p:nvCxnSpPr>
        <p:spPr>
          <a:xfrm flipH="1" rot="10800000">
            <a:off x="3051175" y="2167350"/>
            <a:ext cx="1133400" cy="1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3051070" y="2812805"/>
            <a:ext cx="11394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19"/>
          <p:cNvSpPr txBox="1"/>
          <p:nvPr/>
        </p:nvSpPr>
        <p:spPr>
          <a:xfrm>
            <a:off x="972625" y="71515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10000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972625" y="159955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01000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972625" y="250570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00010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972625" y="3395725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00001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1613250" y="1294500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2426271" y="2905950"/>
            <a:ext cx="1182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N-dimensional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820225" y="4289250"/>
            <a:ext cx="1182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One Hot Encoded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4027487" y="2947675"/>
            <a:ext cx="78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Softmax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4217200" y="1829475"/>
            <a:ext cx="2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75760"/>
                </a:solidFill>
                <a:highlight>
                  <a:srgbClr val="FFFFFF"/>
                </a:highlight>
              </a:rPr>
              <a:t>ŷ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5076875" y="1829475"/>
            <a:ext cx="2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75760"/>
                </a:solidFill>
                <a:highlight>
                  <a:srgbClr val="FFFFFF"/>
                </a:highlight>
              </a:rPr>
              <a:t>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5078975" y="2082524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00100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1594600" y="19903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594600" y="26276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613250" y="32785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729663" y="513400"/>
            <a:ext cx="4482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948675" y="463150"/>
            <a:ext cx="119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Input Layer </a:t>
            </a:r>
            <a:r>
              <a:rPr lang="en" sz="1100">
                <a:solidFill>
                  <a:schemeClr val="dk2"/>
                </a:solidFill>
              </a:rPr>
              <a:t>1*V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2447917" y="1810089"/>
            <a:ext cx="90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Hidden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3883725" y="1654471"/>
            <a:ext cx="118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Output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4120788" y="3294100"/>
            <a:ext cx="597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V-dim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5065725" y="1087500"/>
            <a:ext cx="39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Sentence</a:t>
            </a:r>
            <a:r>
              <a:rPr lang="en" sz="1600">
                <a:solidFill>
                  <a:schemeClr val="dk1"/>
                </a:solidFill>
              </a:rPr>
              <a:t>: "Quick brown fox jump over"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4683646" y="1839102"/>
            <a:ext cx="35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≈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93" name="Google Shape;293;p19"/>
          <p:cNvCxnSpPr/>
          <p:nvPr/>
        </p:nvCxnSpPr>
        <p:spPr>
          <a:xfrm flipH="1" rot="10800000">
            <a:off x="2340825" y="1026150"/>
            <a:ext cx="1647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19"/>
          <p:cNvCxnSpPr/>
          <p:nvPr/>
        </p:nvCxnSpPr>
        <p:spPr>
          <a:xfrm flipH="1" rot="10800000">
            <a:off x="2314575" y="3923263"/>
            <a:ext cx="1647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95" name="Google Shape;295;p19"/>
          <p:cNvSpPr txBox="1"/>
          <p:nvPr/>
        </p:nvSpPr>
        <p:spPr>
          <a:xfrm>
            <a:off x="2409287" y="3829784"/>
            <a:ext cx="149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Back Propagation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4717800" y="2955544"/>
            <a:ext cx="105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Actual target word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2365003" y="723976"/>
            <a:ext cx="16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Forward Propagation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5027175" y="3923275"/>
            <a:ext cx="149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Word Embedding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299" name="Google Shape;299;p19"/>
          <p:cNvCxnSpPr>
            <a:stCxn id="257" idx="3"/>
            <a:endCxn id="252" idx="1"/>
          </p:cNvCxnSpPr>
          <p:nvPr/>
        </p:nvCxnSpPr>
        <p:spPr>
          <a:xfrm>
            <a:off x="3045570" y="2405250"/>
            <a:ext cx="1137900" cy="16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9"/>
          <p:cNvCxnSpPr>
            <a:stCxn id="258" idx="3"/>
            <a:endCxn id="252" idx="1"/>
          </p:cNvCxnSpPr>
          <p:nvPr/>
        </p:nvCxnSpPr>
        <p:spPr>
          <a:xfrm>
            <a:off x="3045570" y="2566752"/>
            <a:ext cx="1137900" cy="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9"/>
          <p:cNvCxnSpPr>
            <a:stCxn id="259" idx="3"/>
            <a:endCxn id="252" idx="1"/>
          </p:cNvCxnSpPr>
          <p:nvPr/>
        </p:nvCxnSpPr>
        <p:spPr>
          <a:xfrm flipH="1" rot="10800000">
            <a:off x="3045570" y="2568054"/>
            <a:ext cx="1137900" cy="160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19"/>
          <p:cNvCxnSpPr>
            <a:stCxn id="257" idx="3"/>
            <a:endCxn id="250" idx="1"/>
          </p:cNvCxnSpPr>
          <p:nvPr/>
        </p:nvCxnSpPr>
        <p:spPr>
          <a:xfrm flipH="1" rot="10800000">
            <a:off x="3045570" y="2245050"/>
            <a:ext cx="1137900" cy="1602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19"/>
          <p:cNvCxnSpPr>
            <a:stCxn id="258" idx="3"/>
            <a:endCxn id="250" idx="1"/>
          </p:cNvCxnSpPr>
          <p:nvPr/>
        </p:nvCxnSpPr>
        <p:spPr>
          <a:xfrm flipH="1" rot="10800000">
            <a:off x="3045570" y="2244852"/>
            <a:ext cx="1137900" cy="321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19"/>
          <p:cNvCxnSpPr>
            <a:stCxn id="259" idx="3"/>
            <a:endCxn id="250" idx="1"/>
          </p:cNvCxnSpPr>
          <p:nvPr/>
        </p:nvCxnSpPr>
        <p:spPr>
          <a:xfrm flipH="1" rot="10800000">
            <a:off x="3045570" y="2244954"/>
            <a:ext cx="1137900" cy="483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9"/>
          <p:cNvSpPr txBox="1"/>
          <p:nvPr/>
        </p:nvSpPr>
        <p:spPr>
          <a:xfrm>
            <a:off x="163225" y="67325"/>
            <a:ext cx="337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pSp>
        <p:nvGrpSpPr>
          <p:cNvPr id="306" name="Google Shape;306;p19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307" name="Google Shape;307;p19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CBOW: Continuous Bag of Words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09" name="Google Shape;309;p19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Model Architecture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310" name="Google Shape;3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3234175" y="2791650"/>
            <a:ext cx="1807450" cy="1311700"/>
          </a:xfrm>
          <a:custGeom>
            <a:rect b="b" l="l" r="r" t="t"/>
            <a:pathLst>
              <a:path extrusionOk="0" h="52468" w="72298">
                <a:moveTo>
                  <a:pt x="72298" y="52468"/>
                </a:moveTo>
                <a:cubicBezTo>
                  <a:pt x="68167" y="50884"/>
                  <a:pt x="54809" y="46684"/>
                  <a:pt x="47510" y="42966"/>
                </a:cubicBezTo>
                <a:cubicBezTo>
                  <a:pt x="40211" y="39248"/>
                  <a:pt x="32637" y="34979"/>
                  <a:pt x="28506" y="30159"/>
                </a:cubicBezTo>
                <a:cubicBezTo>
                  <a:pt x="24375" y="25339"/>
                  <a:pt x="26371" y="18591"/>
                  <a:pt x="22722" y="14046"/>
                </a:cubicBezTo>
                <a:cubicBezTo>
                  <a:pt x="19073" y="9502"/>
                  <a:pt x="10397" y="5233"/>
                  <a:pt x="6610" y="2892"/>
                </a:cubicBezTo>
                <a:cubicBezTo>
                  <a:pt x="2823" y="551"/>
                  <a:pt x="1102" y="482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0"/>
          <p:cNvGrpSpPr/>
          <p:nvPr/>
        </p:nvGrpSpPr>
        <p:grpSpPr>
          <a:xfrm>
            <a:off x="1212499" y="791347"/>
            <a:ext cx="330035" cy="815199"/>
            <a:chOff x="1767700" y="652150"/>
            <a:chExt cx="360300" cy="1017600"/>
          </a:xfrm>
        </p:grpSpPr>
        <p:sp>
          <p:nvSpPr>
            <p:cNvPr id="317" name="Google Shape;317;p20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1212499" y="3471932"/>
            <a:ext cx="330035" cy="815199"/>
            <a:chOff x="1767700" y="652150"/>
            <a:chExt cx="360300" cy="1017600"/>
          </a:xfrm>
        </p:grpSpPr>
        <p:sp>
          <p:nvSpPr>
            <p:cNvPr id="324" name="Google Shape;324;p20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20"/>
          <p:cNvGrpSpPr/>
          <p:nvPr/>
        </p:nvGrpSpPr>
        <p:grpSpPr>
          <a:xfrm>
            <a:off x="1212499" y="1684870"/>
            <a:ext cx="330035" cy="815199"/>
            <a:chOff x="1767700" y="652150"/>
            <a:chExt cx="360300" cy="1017600"/>
          </a:xfrm>
        </p:grpSpPr>
        <p:sp>
          <p:nvSpPr>
            <p:cNvPr id="331" name="Google Shape;331;p20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0"/>
          <p:cNvGrpSpPr/>
          <p:nvPr/>
        </p:nvGrpSpPr>
        <p:grpSpPr>
          <a:xfrm>
            <a:off x="1212499" y="2578400"/>
            <a:ext cx="330035" cy="815199"/>
            <a:chOff x="1767700" y="652150"/>
            <a:chExt cx="360300" cy="1017600"/>
          </a:xfrm>
        </p:grpSpPr>
        <p:sp>
          <p:nvSpPr>
            <p:cNvPr id="338" name="Google Shape;338;p20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20"/>
          <p:cNvGrpSpPr/>
          <p:nvPr/>
        </p:nvGrpSpPr>
        <p:grpSpPr>
          <a:xfrm>
            <a:off x="4178074" y="2164157"/>
            <a:ext cx="330035" cy="815199"/>
            <a:chOff x="1767700" y="652150"/>
            <a:chExt cx="360300" cy="1017600"/>
          </a:xfrm>
        </p:grpSpPr>
        <p:sp>
          <p:nvSpPr>
            <p:cNvPr id="345" name="Google Shape;345;p20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" name="Google Shape;351;p20"/>
          <p:cNvGrpSpPr/>
          <p:nvPr/>
        </p:nvGrpSpPr>
        <p:grpSpPr>
          <a:xfrm>
            <a:off x="2721175" y="2324550"/>
            <a:ext cx="330000" cy="494400"/>
            <a:chOff x="2545175" y="2358100"/>
            <a:chExt cx="330000" cy="494400"/>
          </a:xfrm>
        </p:grpSpPr>
        <p:sp>
          <p:nvSpPr>
            <p:cNvPr id="352" name="Google Shape;352;p20"/>
            <p:cNvSpPr/>
            <p:nvPr/>
          </p:nvSpPr>
          <p:spPr>
            <a:xfrm>
              <a:off x="2545175" y="2358100"/>
              <a:ext cx="330000" cy="494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2550670" y="2358100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550670" y="2519602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550670" y="2681104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6" name="Google Shape;356;p20"/>
          <p:cNvCxnSpPr>
            <a:stCxn id="322" idx="3"/>
            <a:endCxn id="322" idx="3"/>
          </p:cNvCxnSpPr>
          <p:nvPr/>
        </p:nvCxnSpPr>
        <p:spPr>
          <a:xfrm>
            <a:off x="1537038" y="1525796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0"/>
          <p:cNvCxnSpPr/>
          <p:nvPr/>
        </p:nvCxnSpPr>
        <p:spPr>
          <a:xfrm>
            <a:off x="1537950" y="788700"/>
            <a:ext cx="1194600" cy="15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0"/>
          <p:cNvCxnSpPr/>
          <p:nvPr/>
        </p:nvCxnSpPr>
        <p:spPr>
          <a:xfrm>
            <a:off x="1541125" y="1601775"/>
            <a:ext cx="1182300" cy="12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0"/>
          <p:cNvCxnSpPr>
            <a:stCxn id="332" idx="3"/>
            <a:endCxn id="332" idx="3"/>
          </p:cNvCxnSpPr>
          <p:nvPr/>
        </p:nvCxnSpPr>
        <p:spPr>
          <a:xfrm>
            <a:off x="1537038" y="1765621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0"/>
          <p:cNvCxnSpPr/>
          <p:nvPr/>
        </p:nvCxnSpPr>
        <p:spPr>
          <a:xfrm>
            <a:off x="1544100" y="1684875"/>
            <a:ext cx="1185000" cy="6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0"/>
          <p:cNvCxnSpPr/>
          <p:nvPr/>
        </p:nvCxnSpPr>
        <p:spPr>
          <a:xfrm>
            <a:off x="1541125" y="2500075"/>
            <a:ext cx="1194300" cy="3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0"/>
          <p:cNvCxnSpPr/>
          <p:nvPr/>
        </p:nvCxnSpPr>
        <p:spPr>
          <a:xfrm flipH="1" rot="10800000">
            <a:off x="1547125" y="2324900"/>
            <a:ext cx="1185000" cy="2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0"/>
          <p:cNvCxnSpPr/>
          <p:nvPr/>
        </p:nvCxnSpPr>
        <p:spPr>
          <a:xfrm flipH="1" rot="10800000">
            <a:off x="1548475" y="2816100"/>
            <a:ext cx="1182000" cy="57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20"/>
          <p:cNvCxnSpPr/>
          <p:nvPr/>
        </p:nvCxnSpPr>
        <p:spPr>
          <a:xfrm flipH="1" rot="10800000">
            <a:off x="1541125" y="2330425"/>
            <a:ext cx="1186800" cy="114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0"/>
          <p:cNvCxnSpPr/>
          <p:nvPr/>
        </p:nvCxnSpPr>
        <p:spPr>
          <a:xfrm flipH="1" rot="10800000">
            <a:off x="1541070" y="2816805"/>
            <a:ext cx="1186500" cy="14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20"/>
          <p:cNvCxnSpPr/>
          <p:nvPr/>
        </p:nvCxnSpPr>
        <p:spPr>
          <a:xfrm flipH="1" rot="10800000">
            <a:off x="3051175" y="2167350"/>
            <a:ext cx="1133400" cy="1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0"/>
          <p:cNvCxnSpPr/>
          <p:nvPr/>
        </p:nvCxnSpPr>
        <p:spPr>
          <a:xfrm>
            <a:off x="3051070" y="2812805"/>
            <a:ext cx="11394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20"/>
          <p:cNvSpPr txBox="1"/>
          <p:nvPr/>
        </p:nvSpPr>
        <p:spPr>
          <a:xfrm>
            <a:off x="972625" y="71515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10000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972625" y="159955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01000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972625" y="2505700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00010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972625" y="3395725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00001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1613250" y="1294500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2677550" y="2945975"/>
            <a:ext cx="8769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1594600" y="19903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1594600" y="26276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1613250" y="32785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3343875" y="2360925"/>
            <a:ext cx="54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3*5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2426271" y="2905950"/>
            <a:ext cx="1182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3</a:t>
            </a:r>
            <a:r>
              <a:rPr lang="en" sz="1100">
                <a:solidFill>
                  <a:schemeClr val="dk2"/>
                </a:solidFill>
              </a:rPr>
              <a:t>-dimensional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820225" y="4289250"/>
            <a:ext cx="1182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One Hot Encoded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0" name="Google Shape;380;p20"/>
          <p:cNvSpPr txBox="1"/>
          <p:nvPr/>
        </p:nvSpPr>
        <p:spPr>
          <a:xfrm>
            <a:off x="2447917" y="1810089"/>
            <a:ext cx="90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Hidden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4027487" y="2947675"/>
            <a:ext cx="78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</a:t>
            </a:r>
            <a:r>
              <a:rPr lang="en" sz="1100">
                <a:solidFill>
                  <a:schemeClr val="dk2"/>
                </a:solidFill>
              </a:rPr>
              <a:t>oftmax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4217200" y="1829475"/>
            <a:ext cx="2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75760"/>
                </a:solidFill>
                <a:highlight>
                  <a:srgbClr val="FFFFFF"/>
                </a:highlight>
              </a:rPr>
              <a:t>ŷ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3883725" y="1654471"/>
            <a:ext cx="118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Output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4044588" y="3217900"/>
            <a:ext cx="597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5</a:t>
            </a:r>
            <a:r>
              <a:rPr lang="en" sz="1100">
                <a:solidFill>
                  <a:schemeClr val="dk2"/>
                </a:solidFill>
              </a:rPr>
              <a:t>-dim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5076875" y="1829475"/>
            <a:ext cx="2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75760"/>
                </a:solidFill>
                <a:highlight>
                  <a:srgbClr val="FFFFFF"/>
                </a:highlight>
              </a:rPr>
              <a:t>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5078975" y="2082524"/>
            <a:ext cx="187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00100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4717800" y="2955544"/>
            <a:ext cx="1052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Actual target word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4683646" y="1839102"/>
            <a:ext cx="35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≈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948675" y="463150"/>
            <a:ext cx="1194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Input Layer 1*5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5065725" y="1087500"/>
            <a:ext cx="39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Sentence</a:t>
            </a:r>
            <a:r>
              <a:rPr lang="en" sz="1600">
                <a:solidFill>
                  <a:schemeClr val="dk1"/>
                </a:solidFill>
              </a:rPr>
              <a:t>: "Quick brown fox jump over"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529575" y="715950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Quick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529575" y="1599167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Brown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</a:t>
            </a:r>
            <a:r>
              <a:rPr lang="en" sz="900">
                <a:solidFill>
                  <a:schemeClr val="dk2"/>
                </a:solidFill>
              </a:rPr>
              <a:t>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502664" y="2496862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j</a:t>
            </a:r>
            <a:r>
              <a:rPr b="1" lang="en" sz="900">
                <a:solidFill>
                  <a:srgbClr val="FF0000"/>
                </a:solidFill>
              </a:rPr>
              <a:t>ump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512595" y="3376446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over</a:t>
            </a:r>
            <a:endParaRPr b="1" sz="900">
              <a:solidFill>
                <a:srgbClr val="FF0000"/>
              </a:solidFill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5248367" y="2078961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f</a:t>
            </a:r>
            <a:r>
              <a:rPr b="1" lang="en" sz="900">
                <a:solidFill>
                  <a:srgbClr val="FF0000"/>
                </a:solidFill>
              </a:rPr>
              <a:t>ox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</a:t>
            </a:r>
            <a:r>
              <a:rPr lang="en" sz="900">
                <a:solidFill>
                  <a:schemeClr val="dk2"/>
                </a:solidFill>
              </a:rPr>
              <a:t>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5248375" y="4004650"/>
            <a:ext cx="33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Word fox = [0.5, 0.3, 0.01]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163225" y="67325"/>
            <a:ext cx="337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pSp>
        <p:nvGrpSpPr>
          <p:cNvPr id="398" name="Google Shape;398;p20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399" name="Google Shape;399;p20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CBOW: Continuous Bag of Words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401" name="Google Shape;401;p20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Model Architecture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402" name="Google Shape;4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21"/>
          <p:cNvGrpSpPr/>
          <p:nvPr/>
        </p:nvGrpSpPr>
        <p:grpSpPr>
          <a:xfrm flipH="1">
            <a:off x="5099128" y="667051"/>
            <a:ext cx="332807" cy="875524"/>
            <a:chOff x="1767700" y="652150"/>
            <a:chExt cx="360300" cy="1017600"/>
          </a:xfrm>
        </p:grpSpPr>
        <p:sp>
          <p:nvSpPr>
            <p:cNvPr id="408" name="Google Shape;408;p21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" name="Google Shape;414;p21"/>
          <p:cNvGrpSpPr/>
          <p:nvPr/>
        </p:nvGrpSpPr>
        <p:grpSpPr>
          <a:xfrm flipH="1">
            <a:off x="5099128" y="3545998"/>
            <a:ext cx="332807" cy="875524"/>
            <a:chOff x="1767700" y="652150"/>
            <a:chExt cx="360300" cy="1017600"/>
          </a:xfrm>
        </p:grpSpPr>
        <p:sp>
          <p:nvSpPr>
            <p:cNvPr id="415" name="Google Shape;415;p21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21"/>
          <p:cNvGrpSpPr/>
          <p:nvPr/>
        </p:nvGrpSpPr>
        <p:grpSpPr>
          <a:xfrm flipH="1">
            <a:off x="5099128" y="1626694"/>
            <a:ext cx="332807" cy="875524"/>
            <a:chOff x="1767700" y="652150"/>
            <a:chExt cx="360300" cy="1017600"/>
          </a:xfrm>
        </p:grpSpPr>
        <p:sp>
          <p:nvSpPr>
            <p:cNvPr id="422" name="Google Shape;422;p21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21"/>
          <p:cNvGrpSpPr/>
          <p:nvPr/>
        </p:nvGrpSpPr>
        <p:grpSpPr>
          <a:xfrm flipH="1">
            <a:off x="5099128" y="2586346"/>
            <a:ext cx="332807" cy="875524"/>
            <a:chOff x="1767700" y="652150"/>
            <a:chExt cx="360300" cy="1017600"/>
          </a:xfrm>
        </p:grpSpPr>
        <p:sp>
          <p:nvSpPr>
            <p:cNvPr id="429" name="Google Shape;429;p21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21"/>
          <p:cNvGrpSpPr/>
          <p:nvPr/>
        </p:nvGrpSpPr>
        <p:grpSpPr>
          <a:xfrm flipH="1">
            <a:off x="2108643" y="2141448"/>
            <a:ext cx="332807" cy="875524"/>
            <a:chOff x="1767700" y="652150"/>
            <a:chExt cx="360300" cy="1017600"/>
          </a:xfrm>
        </p:grpSpPr>
        <p:sp>
          <p:nvSpPr>
            <p:cNvPr id="436" name="Google Shape;436;p21"/>
            <p:cNvSpPr/>
            <p:nvPr/>
          </p:nvSpPr>
          <p:spPr>
            <a:xfrm>
              <a:off x="1767700" y="652150"/>
              <a:ext cx="360300" cy="101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1773700" y="652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1773700" y="853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1773700" y="1055350"/>
              <a:ext cx="348300" cy="201600"/>
            </a:xfrm>
            <a:prstGeom prst="rect">
              <a:avLst/>
            </a:prstGeom>
            <a:solidFill>
              <a:srgbClr val="43434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1773700" y="12617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1773700" y="1468150"/>
              <a:ext cx="348300" cy="20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2" name="Google Shape;442;p21"/>
          <p:cNvGrpSpPr/>
          <p:nvPr/>
        </p:nvGrpSpPr>
        <p:grpSpPr>
          <a:xfrm flipH="1">
            <a:off x="3577815" y="2313710"/>
            <a:ext cx="332772" cy="530986"/>
            <a:chOff x="2545175" y="2358100"/>
            <a:chExt cx="330000" cy="494400"/>
          </a:xfrm>
        </p:grpSpPr>
        <p:sp>
          <p:nvSpPr>
            <p:cNvPr id="443" name="Google Shape;443;p21"/>
            <p:cNvSpPr/>
            <p:nvPr/>
          </p:nvSpPr>
          <p:spPr>
            <a:xfrm>
              <a:off x="2545175" y="2358100"/>
              <a:ext cx="330000" cy="494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2550670" y="2358100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2550670" y="2519602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2550670" y="2681104"/>
              <a:ext cx="318900" cy="1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7" name="Google Shape;447;p21"/>
          <p:cNvCxnSpPr>
            <a:stCxn id="413" idx="3"/>
            <a:endCxn id="413" idx="3"/>
          </p:cNvCxnSpPr>
          <p:nvPr/>
        </p:nvCxnSpPr>
        <p:spPr>
          <a:xfrm>
            <a:off x="5104671" y="145584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1"/>
          <p:cNvCxnSpPr/>
          <p:nvPr/>
        </p:nvCxnSpPr>
        <p:spPr>
          <a:xfrm flipH="1">
            <a:off x="3899117" y="664207"/>
            <a:ext cx="1204635" cy="165481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1"/>
          <p:cNvCxnSpPr/>
          <p:nvPr/>
        </p:nvCxnSpPr>
        <p:spPr>
          <a:xfrm flipH="1">
            <a:off x="3908318" y="1537450"/>
            <a:ext cx="1192231" cy="130072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1"/>
          <p:cNvCxnSpPr>
            <a:stCxn id="423" idx="3"/>
            <a:endCxn id="423" idx="3"/>
          </p:cNvCxnSpPr>
          <p:nvPr/>
        </p:nvCxnSpPr>
        <p:spPr>
          <a:xfrm>
            <a:off x="5104671" y="171342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1"/>
          <p:cNvCxnSpPr/>
          <p:nvPr/>
        </p:nvCxnSpPr>
        <p:spPr>
          <a:xfrm flipH="1">
            <a:off x="3902596" y="1626699"/>
            <a:ext cx="1194954" cy="690797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21"/>
          <p:cNvCxnSpPr/>
          <p:nvPr/>
        </p:nvCxnSpPr>
        <p:spPr>
          <a:xfrm flipH="1">
            <a:off x="3896217" y="2502224"/>
            <a:ext cx="1204332" cy="34024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21"/>
          <p:cNvCxnSpPr/>
          <p:nvPr/>
        </p:nvCxnSpPr>
        <p:spPr>
          <a:xfrm rot="10800000">
            <a:off x="3899545" y="2314086"/>
            <a:ext cx="1194954" cy="2722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21"/>
          <p:cNvCxnSpPr/>
          <p:nvPr/>
        </p:nvCxnSpPr>
        <p:spPr>
          <a:xfrm rot="10800000">
            <a:off x="3901209" y="2841635"/>
            <a:ext cx="1191929" cy="62023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1"/>
          <p:cNvCxnSpPr/>
          <p:nvPr/>
        </p:nvCxnSpPr>
        <p:spPr>
          <a:xfrm rot="10800000">
            <a:off x="3903780" y="2320020"/>
            <a:ext cx="1196769" cy="122597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21"/>
          <p:cNvCxnSpPr/>
          <p:nvPr/>
        </p:nvCxnSpPr>
        <p:spPr>
          <a:xfrm rot="10800000">
            <a:off x="3904138" y="2842392"/>
            <a:ext cx="1196467" cy="157910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1"/>
          <p:cNvCxnSpPr/>
          <p:nvPr/>
        </p:nvCxnSpPr>
        <p:spPr>
          <a:xfrm rot="10800000">
            <a:off x="2434895" y="2144878"/>
            <a:ext cx="1142921" cy="16883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1"/>
          <p:cNvCxnSpPr/>
          <p:nvPr/>
        </p:nvCxnSpPr>
        <p:spPr>
          <a:xfrm flipH="1">
            <a:off x="2428950" y="2838097"/>
            <a:ext cx="1148971" cy="18107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21"/>
          <p:cNvSpPr txBox="1"/>
          <p:nvPr/>
        </p:nvSpPr>
        <p:spPr>
          <a:xfrm flipH="1">
            <a:off x="6017925" y="585215"/>
            <a:ext cx="189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10000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 flipH="1">
            <a:off x="6017925" y="1535060"/>
            <a:ext cx="189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01000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 flipH="1">
            <a:off x="6017925" y="2508265"/>
            <a:ext cx="189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00010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 flipH="1">
            <a:off x="6017925" y="3464152"/>
            <a:ext cx="189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00001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 flipH="1">
            <a:off x="4481819" y="1207437"/>
            <a:ext cx="54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N</a:t>
            </a:r>
            <a:r>
              <a:rPr baseline="-25000" lang="en" sz="1500">
                <a:solidFill>
                  <a:schemeClr val="dk2"/>
                </a:solidFill>
              </a:rPr>
              <a:t>*V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464" name="Google Shape;464;p21"/>
          <p:cNvSpPr txBox="1"/>
          <p:nvPr/>
        </p:nvSpPr>
        <p:spPr>
          <a:xfrm flipH="1">
            <a:off x="3016040" y="2938134"/>
            <a:ext cx="1191929" cy="4272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N-dimensional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65" name="Google Shape;465;p21"/>
          <p:cNvSpPr txBox="1"/>
          <p:nvPr/>
        </p:nvSpPr>
        <p:spPr>
          <a:xfrm flipH="1">
            <a:off x="1679118" y="3088848"/>
            <a:ext cx="1191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One hot encoded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66" name="Google Shape;466;p21"/>
          <p:cNvSpPr txBox="1"/>
          <p:nvPr/>
        </p:nvSpPr>
        <p:spPr>
          <a:xfrm flipH="1">
            <a:off x="4500625" y="1954753"/>
            <a:ext cx="54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N*V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467" name="Google Shape;467;p21"/>
          <p:cNvSpPr txBox="1"/>
          <p:nvPr/>
        </p:nvSpPr>
        <p:spPr>
          <a:xfrm flipH="1">
            <a:off x="4500625" y="2639213"/>
            <a:ext cx="54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N*V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468" name="Google Shape;468;p21"/>
          <p:cNvSpPr txBox="1"/>
          <p:nvPr/>
        </p:nvSpPr>
        <p:spPr>
          <a:xfrm flipH="1">
            <a:off x="4481819" y="3338280"/>
            <a:ext cx="54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N*V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469" name="Google Shape;469;p21"/>
          <p:cNvSpPr txBox="1"/>
          <p:nvPr/>
        </p:nvSpPr>
        <p:spPr>
          <a:xfrm flipH="1">
            <a:off x="2736608" y="2352777"/>
            <a:ext cx="546049" cy="4156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V*N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470" name="Google Shape;470;p21"/>
          <p:cNvSpPr txBox="1"/>
          <p:nvPr/>
        </p:nvSpPr>
        <p:spPr>
          <a:xfrm flipH="1">
            <a:off x="4572125" y="314575"/>
            <a:ext cx="130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Output </a:t>
            </a:r>
            <a:r>
              <a:rPr lang="en" sz="1100">
                <a:solidFill>
                  <a:schemeClr val="dk2"/>
                </a:solidFill>
              </a:rPr>
              <a:t>Layer 1*V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71" name="Google Shape;471;p21"/>
          <p:cNvSpPr txBox="1"/>
          <p:nvPr/>
        </p:nvSpPr>
        <p:spPr>
          <a:xfrm flipH="1">
            <a:off x="3269808" y="1761179"/>
            <a:ext cx="916333" cy="5232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Hidden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72" name="Google Shape;472;p21"/>
          <p:cNvSpPr txBox="1"/>
          <p:nvPr/>
        </p:nvSpPr>
        <p:spPr>
          <a:xfrm flipH="1">
            <a:off x="1851172" y="1822645"/>
            <a:ext cx="119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Input </a:t>
            </a:r>
            <a:r>
              <a:rPr lang="en" sz="1100">
                <a:solidFill>
                  <a:schemeClr val="dk2"/>
                </a:solidFill>
              </a:rPr>
              <a:t>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73" name="Google Shape;473;p21"/>
          <p:cNvSpPr txBox="1"/>
          <p:nvPr/>
        </p:nvSpPr>
        <p:spPr>
          <a:xfrm flipH="1">
            <a:off x="1879001" y="2053774"/>
            <a:ext cx="189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00100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5631125" y="219725"/>
            <a:ext cx="12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Actual context word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5640075" y="309200"/>
            <a:ext cx="33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6" name="Google Shape;476;p21"/>
          <p:cNvSpPr txBox="1"/>
          <p:nvPr/>
        </p:nvSpPr>
        <p:spPr>
          <a:xfrm>
            <a:off x="427925" y="3750775"/>
            <a:ext cx="141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Word Embedding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77" name="Google Shape;477;p21"/>
          <p:cNvCxnSpPr/>
          <p:nvPr/>
        </p:nvCxnSpPr>
        <p:spPr>
          <a:xfrm flipH="1" rot="10800000">
            <a:off x="2340825" y="1026150"/>
            <a:ext cx="1647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21"/>
          <p:cNvSpPr txBox="1"/>
          <p:nvPr/>
        </p:nvSpPr>
        <p:spPr>
          <a:xfrm>
            <a:off x="2365003" y="723976"/>
            <a:ext cx="16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Forward Propagation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479" name="Google Shape;479;p21"/>
          <p:cNvCxnSpPr/>
          <p:nvPr/>
        </p:nvCxnSpPr>
        <p:spPr>
          <a:xfrm flipH="1" rot="10800000">
            <a:off x="2314575" y="3923263"/>
            <a:ext cx="1647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80" name="Google Shape;480;p21"/>
          <p:cNvSpPr txBox="1"/>
          <p:nvPr/>
        </p:nvSpPr>
        <p:spPr>
          <a:xfrm>
            <a:off x="2409287" y="3829784"/>
            <a:ext cx="149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Back Propagation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163225" y="67325"/>
            <a:ext cx="337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pSp>
        <p:nvGrpSpPr>
          <p:cNvPr id="482" name="Google Shape;482;p21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483" name="Google Shape;483;p21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Skip Gram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485" name="Google Shape;485;p21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Model Architecture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486" name="Google Shape;4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21"/>
          <p:cNvSpPr/>
          <p:nvPr/>
        </p:nvSpPr>
        <p:spPr>
          <a:xfrm>
            <a:off x="1653925" y="2760675"/>
            <a:ext cx="1807475" cy="1156750"/>
          </a:xfrm>
          <a:custGeom>
            <a:rect b="b" l="l" r="r" t="t"/>
            <a:pathLst>
              <a:path extrusionOk="0" h="46270" w="72299">
                <a:moveTo>
                  <a:pt x="0" y="46270"/>
                </a:moveTo>
                <a:cubicBezTo>
                  <a:pt x="3787" y="45650"/>
                  <a:pt x="14392" y="44893"/>
                  <a:pt x="22723" y="42552"/>
                </a:cubicBezTo>
                <a:cubicBezTo>
                  <a:pt x="31055" y="40211"/>
                  <a:pt x="44481" y="36355"/>
                  <a:pt x="49989" y="32224"/>
                </a:cubicBezTo>
                <a:cubicBezTo>
                  <a:pt x="55497" y="28093"/>
                  <a:pt x="53019" y="22446"/>
                  <a:pt x="55773" y="17764"/>
                </a:cubicBezTo>
                <a:cubicBezTo>
                  <a:pt x="58527" y="13082"/>
                  <a:pt x="63761" y="7092"/>
                  <a:pt x="66515" y="4131"/>
                </a:cubicBezTo>
                <a:cubicBezTo>
                  <a:pt x="69269" y="1170"/>
                  <a:pt x="71335" y="689"/>
                  <a:pt x="72299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88" name="Google Shape;488;p21"/>
          <p:cNvSpPr txBox="1"/>
          <p:nvPr/>
        </p:nvSpPr>
        <p:spPr>
          <a:xfrm>
            <a:off x="4949937" y="4429450"/>
            <a:ext cx="78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Softmax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"/>
          <p:cNvSpPr/>
          <p:nvPr/>
        </p:nvSpPr>
        <p:spPr>
          <a:xfrm flipH="1">
            <a:off x="5108143" y="667069"/>
            <a:ext cx="333602" cy="8755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 flipH="1">
            <a:off x="5113698" y="667069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 flipH="1">
            <a:off x="5113698" y="840526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"/>
          <p:cNvSpPr/>
          <p:nvPr/>
        </p:nvSpPr>
        <p:spPr>
          <a:xfrm flipH="1">
            <a:off x="5113698" y="1013982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"/>
          <p:cNvSpPr/>
          <p:nvPr/>
        </p:nvSpPr>
        <p:spPr>
          <a:xfrm flipH="1">
            <a:off x="5113698" y="1191569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 flipH="1">
            <a:off x="5113698" y="1369155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 flipH="1">
            <a:off x="5108143" y="3546046"/>
            <a:ext cx="333602" cy="8755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 flipH="1">
            <a:off x="5113698" y="3546046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 flipH="1">
            <a:off x="5113698" y="3719502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 flipH="1">
            <a:off x="5113698" y="3892959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 flipH="1">
            <a:off x="5113698" y="4070545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 flipH="1">
            <a:off x="5113698" y="4248132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"/>
          <p:cNvSpPr/>
          <p:nvPr/>
        </p:nvSpPr>
        <p:spPr>
          <a:xfrm flipH="1">
            <a:off x="5108143" y="1626722"/>
            <a:ext cx="333602" cy="8755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 flipH="1">
            <a:off x="5113698" y="1626722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 flipH="1">
            <a:off x="5113698" y="1800179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 flipH="1">
            <a:off x="5113698" y="1973635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2"/>
          <p:cNvSpPr/>
          <p:nvPr/>
        </p:nvSpPr>
        <p:spPr>
          <a:xfrm flipH="1">
            <a:off x="5113698" y="2151222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 flipH="1">
            <a:off x="5113698" y="2328808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"/>
          <p:cNvSpPr/>
          <p:nvPr/>
        </p:nvSpPr>
        <p:spPr>
          <a:xfrm flipH="1">
            <a:off x="5108143" y="2586383"/>
            <a:ext cx="333602" cy="8755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 flipH="1">
            <a:off x="5113698" y="2586383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 flipH="1">
            <a:off x="5113698" y="2759840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 flipH="1">
            <a:off x="5113698" y="2933296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2"/>
          <p:cNvSpPr/>
          <p:nvPr/>
        </p:nvSpPr>
        <p:spPr>
          <a:xfrm flipH="1">
            <a:off x="5113698" y="3110883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 flipH="1">
            <a:off x="5113698" y="3288469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2"/>
          <p:cNvSpPr/>
          <p:nvPr/>
        </p:nvSpPr>
        <p:spPr>
          <a:xfrm flipH="1">
            <a:off x="2110291" y="2141481"/>
            <a:ext cx="333602" cy="8755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 flipH="1">
            <a:off x="2115846" y="2141481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 flipH="1">
            <a:off x="2115846" y="2314938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 flipH="1">
            <a:off x="2115846" y="2488394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2"/>
          <p:cNvSpPr/>
          <p:nvPr/>
        </p:nvSpPr>
        <p:spPr>
          <a:xfrm flipH="1">
            <a:off x="2115846" y="2665981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 flipH="1">
            <a:off x="2115846" y="2843568"/>
            <a:ext cx="322491" cy="17345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2"/>
          <p:cNvSpPr/>
          <p:nvPr/>
        </p:nvSpPr>
        <p:spPr>
          <a:xfrm flipH="1">
            <a:off x="3582888" y="2313713"/>
            <a:ext cx="333597" cy="53098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 flipH="1">
            <a:off x="3588553" y="2313713"/>
            <a:ext cx="322376" cy="17334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 flipH="1">
            <a:off x="3588553" y="2487166"/>
            <a:ext cx="322376" cy="17334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 flipH="1">
            <a:off x="3588553" y="2660619"/>
            <a:ext cx="322376" cy="17334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" name="Google Shape;527;p22"/>
          <p:cNvCxnSpPr>
            <a:stCxn id="498" idx="3"/>
            <a:endCxn id="498" idx="3"/>
          </p:cNvCxnSpPr>
          <p:nvPr/>
        </p:nvCxnSpPr>
        <p:spPr>
          <a:xfrm>
            <a:off x="5113698" y="1455884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22"/>
          <p:cNvCxnSpPr/>
          <p:nvPr/>
        </p:nvCxnSpPr>
        <p:spPr>
          <a:xfrm flipH="1">
            <a:off x="3905129" y="664219"/>
            <a:ext cx="1207500" cy="165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22"/>
          <p:cNvCxnSpPr/>
          <p:nvPr/>
        </p:nvCxnSpPr>
        <p:spPr>
          <a:xfrm flipH="1">
            <a:off x="3914219" y="1537471"/>
            <a:ext cx="1195200" cy="13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22"/>
          <p:cNvCxnSpPr>
            <a:stCxn id="506" idx="3"/>
            <a:endCxn id="506" idx="3"/>
          </p:cNvCxnSpPr>
          <p:nvPr/>
        </p:nvCxnSpPr>
        <p:spPr>
          <a:xfrm>
            <a:off x="5113698" y="17134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22"/>
          <p:cNvCxnSpPr/>
          <p:nvPr/>
        </p:nvCxnSpPr>
        <p:spPr>
          <a:xfrm flipH="1">
            <a:off x="3908512" y="1626721"/>
            <a:ext cx="1197900" cy="6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22"/>
          <p:cNvCxnSpPr/>
          <p:nvPr/>
        </p:nvCxnSpPr>
        <p:spPr>
          <a:xfrm flipH="1">
            <a:off x="3902219" y="2502254"/>
            <a:ext cx="1207200" cy="34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22"/>
          <p:cNvCxnSpPr/>
          <p:nvPr/>
        </p:nvCxnSpPr>
        <p:spPr>
          <a:xfrm rot="10800000">
            <a:off x="3905454" y="2313676"/>
            <a:ext cx="119790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22"/>
          <p:cNvCxnSpPr/>
          <p:nvPr/>
        </p:nvCxnSpPr>
        <p:spPr>
          <a:xfrm rot="10800000">
            <a:off x="3907089" y="2841810"/>
            <a:ext cx="119490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2"/>
          <p:cNvCxnSpPr/>
          <p:nvPr/>
        </p:nvCxnSpPr>
        <p:spPr>
          <a:xfrm rot="10800000">
            <a:off x="3909719" y="2320232"/>
            <a:ext cx="1199700" cy="12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22"/>
          <p:cNvCxnSpPr/>
          <p:nvPr/>
        </p:nvCxnSpPr>
        <p:spPr>
          <a:xfrm rot="10800000">
            <a:off x="3910074" y="2842343"/>
            <a:ext cx="1199400" cy="157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22"/>
          <p:cNvCxnSpPr/>
          <p:nvPr/>
        </p:nvCxnSpPr>
        <p:spPr>
          <a:xfrm rot="10800000">
            <a:off x="2437234" y="2144839"/>
            <a:ext cx="1145700" cy="16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22"/>
          <p:cNvCxnSpPr/>
          <p:nvPr/>
        </p:nvCxnSpPr>
        <p:spPr>
          <a:xfrm flipH="1">
            <a:off x="2431340" y="2838130"/>
            <a:ext cx="1151700" cy="18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22"/>
          <p:cNvSpPr txBox="1"/>
          <p:nvPr/>
        </p:nvSpPr>
        <p:spPr>
          <a:xfrm flipH="1">
            <a:off x="5494207" y="585226"/>
            <a:ext cx="189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10000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40" name="Google Shape;540;p22"/>
          <p:cNvSpPr txBox="1"/>
          <p:nvPr/>
        </p:nvSpPr>
        <p:spPr>
          <a:xfrm flipH="1">
            <a:off x="5494207" y="1535081"/>
            <a:ext cx="189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01000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 flipH="1">
            <a:off x="5494207" y="2508296"/>
            <a:ext cx="189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00010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42" name="Google Shape;542;p22"/>
          <p:cNvSpPr txBox="1"/>
          <p:nvPr/>
        </p:nvSpPr>
        <p:spPr>
          <a:xfrm flipH="1">
            <a:off x="5494207" y="3464192"/>
            <a:ext cx="189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00001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43" name="Google Shape;543;p22"/>
          <p:cNvSpPr txBox="1"/>
          <p:nvPr/>
        </p:nvSpPr>
        <p:spPr>
          <a:xfrm flipH="1">
            <a:off x="4489009" y="1207454"/>
            <a:ext cx="5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544" name="Google Shape;544;p22"/>
          <p:cNvSpPr txBox="1"/>
          <p:nvPr/>
        </p:nvSpPr>
        <p:spPr>
          <a:xfrm flipH="1">
            <a:off x="4507862" y="1954777"/>
            <a:ext cx="5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545" name="Google Shape;545;p22"/>
          <p:cNvSpPr txBox="1"/>
          <p:nvPr/>
        </p:nvSpPr>
        <p:spPr>
          <a:xfrm flipH="1">
            <a:off x="4507862" y="2639244"/>
            <a:ext cx="5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546" name="Google Shape;546;p22"/>
          <p:cNvSpPr txBox="1"/>
          <p:nvPr/>
        </p:nvSpPr>
        <p:spPr>
          <a:xfrm flipH="1">
            <a:off x="4489009" y="3338318"/>
            <a:ext cx="5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5*3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547" name="Google Shape;547;p22"/>
          <p:cNvSpPr txBox="1"/>
          <p:nvPr/>
        </p:nvSpPr>
        <p:spPr>
          <a:xfrm flipH="1">
            <a:off x="2739549" y="2352806"/>
            <a:ext cx="5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</a:t>
            </a:r>
            <a:r>
              <a:rPr baseline="-25000" lang="en" sz="1500">
                <a:solidFill>
                  <a:schemeClr val="dk2"/>
                </a:solidFill>
              </a:rPr>
              <a:t>3*5</a:t>
            </a:r>
            <a:endParaRPr baseline="-25000" sz="1500">
              <a:solidFill>
                <a:schemeClr val="dk2"/>
              </a:solidFill>
            </a:endParaRPr>
          </a:p>
        </p:txBody>
      </p:sp>
      <p:sp>
        <p:nvSpPr>
          <p:cNvPr id="548" name="Google Shape;548;p22"/>
          <p:cNvSpPr txBox="1"/>
          <p:nvPr/>
        </p:nvSpPr>
        <p:spPr>
          <a:xfrm flipH="1">
            <a:off x="3019740" y="2938168"/>
            <a:ext cx="11949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N-dimensional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49" name="Google Shape;549;p22"/>
          <p:cNvSpPr txBox="1"/>
          <p:nvPr/>
        </p:nvSpPr>
        <p:spPr>
          <a:xfrm flipH="1">
            <a:off x="5965275" y="985134"/>
            <a:ext cx="4530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0" name="Google Shape;550;p22"/>
          <p:cNvSpPr txBox="1"/>
          <p:nvPr/>
        </p:nvSpPr>
        <p:spPr>
          <a:xfrm flipH="1">
            <a:off x="3274158" y="1761201"/>
            <a:ext cx="91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Hidden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1" name="Google Shape;551;p22"/>
          <p:cNvSpPr txBox="1"/>
          <p:nvPr/>
        </p:nvSpPr>
        <p:spPr>
          <a:xfrm flipH="1">
            <a:off x="1679118" y="3088848"/>
            <a:ext cx="1191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One hot encoded vector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2" name="Google Shape;552;p22"/>
          <p:cNvSpPr txBox="1"/>
          <p:nvPr/>
        </p:nvSpPr>
        <p:spPr>
          <a:xfrm flipH="1">
            <a:off x="4507925" y="314575"/>
            <a:ext cx="137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Output Layer 1*V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3" name="Google Shape;553;p22"/>
          <p:cNvSpPr txBox="1"/>
          <p:nvPr/>
        </p:nvSpPr>
        <p:spPr>
          <a:xfrm flipH="1">
            <a:off x="1851172" y="1822645"/>
            <a:ext cx="119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Input  Layer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4" name="Google Shape;554;p22"/>
          <p:cNvSpPr txBox="1"/>
          <p:nvPr/>
        </p:nvSpPr>
        <p:spPr>
          <a:xfrm flipH="1">
            <a:off x="1879001" y="2053774"/>
            <a:ext cx="189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00100</a:t>
            </a:r>
            <a:endParaRPr sz="9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55" name="Google Shape;555;p22"/>
          <p:cNvSpPr txBox="1"/>
          <p:nvPr/>
        </p:nvSpPr>
        <p:spPr>
          <a:xfrm>
            <a:off x="5992050" y="603532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Quick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56" name="Google Shape;556;p22"/>
          <p:cNvSpPr txBox="1"/>
          <p:nvPr/>
        </p:nvSpPr>
        <p:spPr>
          <a:xfrm>
            <a:off x="5992050" y="1522692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Brown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57" name="Google Shape;557;p22"/>
          <p:cNvSpPr txBox="1"/>
          <p:nvPr/>
        </p:nvSpPr>
        <p:spPr>
          <a:xfrm>
            <a:off x="5965139" y="2500900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jump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58" name="Google Shape;558;p22"/>
          <p:cNvSpPr txBox="1"/>
          <p:nvPr/>
        </p:nvSpPr>
        <p:spPr>
          <a:xfrm>
            <a:off x="5975070" y="3452371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fox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over</a:t>
            </a:r>
            <a:endParaRPr b="1" sz="900">
              <a:solidFill>
                <a:srgbClr val="FF0000"/>
              </a:solidFill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5631125" y="219725"/>
            <a:ext cx="12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Actual context word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60" name="Google Shape;560;p22"/>
          <p:cNvSpPr txBox="1"/>
          <p:nvPr/>
        </p:nvSpPr>
        <p:spPr>
          <a:xfrm>
            <a:off x="1375442" y="2053786"/>
            <a:ext cx="541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Quick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Brown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0000"/>
                </a:solidFill>
              </a:rPr>
              <a:t>fox</a:t>
            </a:r>
            <a:endParaRPr b="1" sz="9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jump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over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61" name="Google Shape;561;p22"/>
          <p:cNvSpPr txBox="1"/>
          <p:nvPr/>
        </p:nvSpPr>
        <p:spPr>
          <a:xfrm>
            <a:off x="163225" y="67325"/>
            <a:ext cx="337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pSp>
        <p:nvGrpSpPr>
          <p:cNvPr id="562" name="Google Shape;562;p22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563" name="Google Shape;563;p22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Skip Gram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65" name="Google Shape;565;p22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Model Architecture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566" name="Google Shape;56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22"/>
          <p:cNvSpPr txBox="1"/>
          <p:nvPr/>
        </p:nvSpPr>
        <p:spPr>
          <a:xfrm>
            <a:off x="4949937" y="4429450"/>
            <a:ext cx="78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Softmax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525" y="1200750"/>
            <a:ext cx="5210525" cy="3403124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3"/>
          <p:cNvSpPr txBox="1"/>
          <p:nvPr/>
        </p:nvSpPr>
        <p:spPr>
          <a:xfrm>
            <a:off x="163225" y="67325"/>
            <a:ext cx="337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pSp>
        <p:nvGrpSpPr>
          <p:cNvPr id="574" name="Google Shape;574;p23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575" name="Google Shape;575;p23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Results for CBOW Architecture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77" name="Google Shape;577;p23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Word2Vec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1744500" y="4522475"/>
            <a:ext cx="586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Fig1: Subset of training data with vocabulary restricted to 30k most frequent words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1815325" y="646650"/>
            <a:ext cx="63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Word2Vec:  </a:t>
            </a:r>
            <a:r>
              <a:rPr lang="en" sz="1200">
                <a:solidFill>
                  <a:schemeClr val="dk1"/>
                </a:solidFill>
              </a:rPr>
              <a:t>Google news corpus data was used to train word vectors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	         6 Billion tokens (restricted to 1B most frequent words)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80" name="Google Shape;58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251" y="1785725"/>
            <a:ext cx="7182751" cy="1795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6" name="Google Shape;586;p24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587" name="Google Shape;587;p24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Comparison</a:t>
              </a: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of Architectures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89" name="Google Shape;589;p24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Word2Vec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590" name="Google Shape;590;p24"/>
          <p:cNvSpPr txBox="1"/>
          <p:nvPr/>
        </p:nvSpPr>
        <p:spPr>
          <a:xfrm>
            <a:off x="1372225" y="3527975"/>
            <a:ext cx="70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Fig2: </a:t>
            </a:r>
            <a:r>
              <a:rPr lang="en" sz="1100"/>
              <a:t>Comparison of architectures using models trained on the same data, with 640-dimensional word vectors</a:t>
            </a:r>
            <a:endParaRPr sz="1100"/>
          </a:p>
        </p:txBody>
      </p:sp>
      <p:sp>
        <p:nvSpPr>
          <p:cNvPr id="591" name="Google Shape;591;p24"/>
          <p:cNvSpPr txBox="1"/>
          <p:nvPr/>
        </p:nvSpPr>
        <p:spPr>
          <a:xfrm>
            <a:off x="4811660" y="3300221"/>
            <a:ext cx="346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Reference: </a:t>
            </a:r>
            <a:r>
              <a:rPr lang="en" sz="8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Efficient Estimation of Word Representation in Vector Space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92" name="Google Shape;5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25"/>
          <p:cNvGrpSpPr/>
          <p:nvPr/>
        </p:nvGrpSpPr>
        <p:grpSpPr>
          <a:xfrm>
            <a:off x="238750" y="290350"/>
            <a:ext cx="2465749" cy="250149"/>
            <a:chOff x="304426" y="1038040"/>
            <a:chExt cx="5861061" cy="781959"/>
          </a:xfrm>
        </p:grpSpPr>
        <p:sp>
          <p:nvSpPr>
            <p:cNvPr id="598" name="Google Shape;598;p25"/>
            <p:cNvSpPr/>
            <p:nvPr/>
          </p:nvSpPr>
          <p:spPr>
            <a:xfrm>
              <a:off x="407588" y="1146199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B732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304426" y="1038040"/>
              <a:ext cx="57579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B73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Conclusion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600" name="Google Shape;600;p25"/>
          <p:cNvSpPr/>
          <p:nvPr/>
        </p:nvSpPr>
        <p:spPr>
          <a:xfrm>
            <a:off x="593684" y="85277"/>
            <a:ext cx="1755900" cy="215400"/>
          </a:xfrm>
          <a:prstGeom prst="roundRect">
            <a:avLst>
              <a:gd fmla="val 16667" name="adj"/>
            </a:avLst>
          </a:prstGeom>
          <a:solidFill>
            <a:srgbClr val="B732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Word2Vec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01" name="Google Shape;6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25"/>
          <p:cNvSpPr txBox="1"/>
          <p:nvPr/>
        </p:nvSpPr>
        <p:spPr>
          <a:xfrm>
            <a:off x="983850" y="1656850"/>
            <a:ext cx="71763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High quality representation of words into vectors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Simple architecture and scalable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Lower computational complexity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Captures syntactic and semantic meanings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26"/>
          <p:cNvSpPr txBox="1"/>
          <p:nvPr/>
        </p:nvSpPr>
        <p:spPr>
          <a:xfrm>
            <a:off x="1315700" y="1692150"/>
            <a:ext cx="6585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691633"/>
                </a:solidFill>
                <a:latin typeface="Arial Narrow"/>
                <a:ea typeface="Arial Narrow"/>
                <a:cs typeface="Arial Narrow"/>
                <a:sym typeface="Arial Narrow"/>
              </a:rPr>
              <a:t>T</a:t>
            </a:r>
            <a:r>
              <a:rPr lang="en" sz="7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HANK </a:t>
            </a:r>
            <a:r>
              <a:rPr lang="en" sz="7200">
                <a:solidFill>
                  <a:srgbClr val="691633"/>
                </a:solidFill>
                <a:latin typeface="Arial Narrow"/>
                <a:ea typeface="Arial Narrow"/>
                <a:cs typeface="Arial Narrow"/>
                <a:sym typeface="Arial Narrow"/>
              </a:rPr>
              <a:t>Y</a:t>
            </a:r>
            <a:r>
              <a:rPr lang="en" sz="7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OU</a:t>
            </a:r>
            <a:endParaRPr sz="72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4" name="Google Shape;61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1863"/>
            <a:ext cx="8839200" cy="3419777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7"/>
          <p:cNvSpPr txBox="1"/>
          <p:nvPr/>
        </p:nvSpPr>
        <p:spPr>
          <a:xfrm>
            <a:off x="3024600" y="4342475"/>
            <a:ext cx="576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Reference:</a:t>
            </a:r>
            <a:r>
              <a:rPr lang="en" sz="11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https://towardsdatascience.com/a-guide-to-word-embeddings-8a23817ab60f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