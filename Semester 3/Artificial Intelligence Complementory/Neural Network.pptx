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Montserrat SemiBold"/>
      <p:regular r:id="rId32"/>
      <p:bold r:id="rId33"/>
      <p:italic r:id="rId34"/>
      <p:boldItalic r:id="rId35"/>
    </p:embeddedFont>
    <p:embeddedFont>
      <p:font typeface="Proxima Nova"/>
      <p:regular r:id="rId36"/>
      <p:bold r:id="rId37"/>
      <p:italic r:id="rId38"/>
      <p:boldItalic r:id="rId39"/>
    </p:embeddedFont>
    <p:embeddedFont>
      <p:font typeface="Montserrat"/>
      <p:regular r:id="rId40"/>
      <p:bold r:id="rId41"/>
      <p:italic r:id="rId42"/>
      <p:boldItalic r:id="rId43"/>
    </p:embeddedFont>
    <p:embeddedFont>
      <p:font typeface="Inter"/>
      <p:regular r:id="rId44"/>
      <p:bold r:id="rId45"/>
      <p:italic r:id="rId46"/>
      <p:boldItalic r:id="rId47"/>
    </p:embeddedFont>
    <p:embeddedFont>
      <p:font typeface="Montserrat Medium"/>
      <p:regular r:id="rId48"/>
      <p:bold r:id="rId49"/>
      <p:italic r:id="rId50"/>
      <p:boldItalic r:id="rId51"/>
    </p:embeddedFont>
    <p:embeddedFont>
      <p:font typeface="Proxima Nova Extrabold"/>
      <p:bold r:id="rId52"/>
    </p:embeddedFont>
    <p:embeddedFont>
      <p:font typeface="Montserrat ExtraBold"/>
      <p:bold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regular.fntdata"/><Relationship Id="rId42" Type="http://schemas.openxmlformats.org/officeDocument/2006/relationships/font" Target="fonts/Montserrat-italic.fntdata"/><Relationship Id="rId41" Type="http://schemas.openxmlformats.org/officeDocument/2006/relationships/font" Target="fonts/Montserrat-bold.fntdata"/><Relationship Id="rId44" Type="http://schemas.openxmlformats.org/officeDocument/2006/relationships/font" Target="fonts/Inter-regular.fntdata"/><Relationship Id="rId43" Type="http://schemas.openxmlformats.org/officeDocument/2006/relationships/font" Target="fonts/Montserrat-boldItalic.fntdata"/><Relationship Id="rId46" Type="http://schemas.openxmlformats.org/officeDocument/2006/relationships/font" Target="fonts/Inter-italic.fntdata"/><Relationship Id="rId45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MontserratMedium-regular.fntdata"/><Relationship Id="rId47" Type="http://schemas.openxmlformats.org/officeDocument/2006/relationships/font" Target="fonts/Inter-boldItalic.fntdata"/><Relationship Id="rId49" Type="http://schemas.openxmlformats.org/officeDocument/2006/relationships/font" Target="fonts/Montserrat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font" Target="fonts/MontserratSemiBold-bold.fntdata"/><Relationship Id="rId32" Type="http://schemas.openxmlformats.org/officeDocument/2006/relationships/font" Target="fonts/MontserratSemiBold-regular.fntdata"/><Relationship Id="rId35" Type="http://schemas.openxmlformats.org/officeDocument/2006/relationships/font" Target="fonts/MontserratSemiBold-boldItalic.fntdata"/><Relationship Id="rId34" Type="http://schemas.openxmlformats.org/officeDocument/2006/relationships/font" Target="fonts/MontserratSemiBold-italic.fntdata"/><Relationship Id="rId37" Type="http://schemas.openxmlformats.org/officeDocument/2006/relationships/font" Target="fonts/ProximaNova-bold.fntdata"/><Relationship Id="rId36" Type="http://schemas.openxmlformats.org/officeDocument/2006/relationships/font" Target="fonts/ProximaNova-regular.fntdata"/><Relationship Id="rId39" Type="http://schemas.openxmlformats.org/officeDocument/2006/relationships/font" Target="fonts/ProximaNova-boldItalic.fntdata"/><Relationship Id="rId38" Type="http://schemas.openxmlformats.org/officeDocument/2006/relationships/font" Target="fonts/ProximaNova-italic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MontserratMedium-boldItalic.fntdata"/><Relationship Id="rId50" Type="http://schemas.openxmlformats.org/officeDocument/2006/relationships/font" Target="fonts/MontserratMedium-italic.fntdata"/><Relationship Id="rId53" Type="http://schemas.openxmlformats.org/officeDocument/2006/relationships/font" Target="fonts/MontserratExtraBold-bold.fntdata"/><Relationship Id="rId52" Type="http://schemas.openxmlformats.org/officeDocument/2006/relationships/font" Target="fonts/ProximaNovaExtrabo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MontserratExtraBold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2259160e3e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2259160e3e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2259160e3e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2259160e3e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268a9c44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2268a9c44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2259160e3e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2259160e3e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a4b9cd372e_0_6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a4b9cd372e_0_6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2268a9c44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2268a9c44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259160e3e_0_6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2259160e3e_0_6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a4b9cd372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a4b9cd372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a4b9cd372e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2a4b9cd372e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a4b9cd372e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a4b9cd372e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a4b9cd372e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a4b9cd372e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2a4b9cd372e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2a4b9cd372e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2268a9c44f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2268a9c44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a4b9cd372e_0_6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2a4b9cd372e_0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a4b9cd372e_0_7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a4b9cd372e_0_7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2a4b9cd372e_0_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2a4b9cd372e_0_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2259160e3e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32259160e3e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2259160e3e_0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2259160e3e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2268a9c44f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2268a9c44f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2a4b9cd372e_0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2a4b9cd372e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2a4b9cd372e_0_4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2a4b9cd372e_0_4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2268a9c44f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32268a9c44f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2a4b9cd372e_0_5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2a4b9cd372e_0_5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2a4b9cd372e_0_6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2" name="Google Shape;622;g2a4b9cd372e_0_6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2a4b9cd372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2a4b9cd372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2a4b9cd372e_0_5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2a4b9cd372e_0_5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4"/>
          <p:cNvSpPr txBox="1"/>
          <p:nvPr/>
        </p:nvSpPr>
        <p:spPr>
          <a:xfrm>
            <a:off x="311700" y="4677475"/>
            <a:ext cx="721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200">
                <a:solidFill>
                  <a:srgbClr val="000000"/>
                </a:solidFill>
              </a:rPr>
              <a:t>‹#›</a:t>
            </a:fld>
            <a:r>
              <a:rPr b="1" lang="en" sz="1200">
                <a:solidFill>
                  <a:srgbClr val="000000"/>
                </a:solidFill>
              </a:rPr>
              <a:t> | </a:t>
            </a:r>
            <a:r>
              <a:rPr lang="en" sz="950">
                <a:solidFill>
                  <a:schemeClr val="dk1"/>
                </a:solidFill>
                <a:highlight>
                  <a:srgbClr val="FFFFFF"/>
                </a:highlight>
              </a:rPr>
              <a:t>Artificial Intelligence – Understanding opportunities and limitations across disciplines</a:t>
            </a:r>
            <a:endParaRPr b="1" sz="7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/>
          <p:nvPr/>
        </p:nvSpPr>
        <p:spPr>
          <a:xfrm>
            <a:off x="311700" y="4677475"/>
            <a:ext cx="721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200">
                <a:solidFill>
                  <a:srgbClr val="000000"/>
                </a:solidFill>
              </a:rPr>
              <a:t>‹#›</a:t>
            </a:fld>
            <a:r>
              <a:rPr b="1" lang="en" sz="1200">
                <a:solidFill>
                  <a:srgbClr val="000000"/>
                </a:solidFill>
              </a:rPr>
              <a:t> | </a:t>
            </a:r>
            <a:r>
              <a:rPr lang="en" sz="950">
                <a:solidFill>
                  <a:schemeClr val="dk1"/>
                </a:solidFill>
                <a:highlight>
                  <a:srgbClr val="FFFFFF"/>
                </a:highlight>
              </a:rPr>
              <a:t>Artificial Intelligence – Understanding opportunities and limitations across disciplines</a:t>
            </a:r>
            <a:endParaRPr b="1" sz="7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6"/>
          <p:cNvSpPr txBox="1"/>
          <p:nvPr/>
        </p:nvSpPr>
        <p:spPr>
          <a:xfrm>
            <a:off x="311700" y="4677475"/>
            <a:ext cx="721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200">
                <a:solidFill>
                  <a:srgbClr val="000000"/>
                </a:solidFill>
              </a:rPr>
              <a:t>‹#›</a:t>
            </a:fld>
            <a:r>
              <a:rPr b="1" lang="en" sz="1200">
                <a:solidFill>
                  <a:srgbClr val="000000"/>
                </a:solidFill>
              </a:rPr>
              <a:t> | </a:t>
            </a:r>
            <a:r>
              <a:rPr lang="en" sz="950">
                <a:solidFill>
                  <a:schemeClr val="dk1"/>
                </a:solidFill>
                <a:highlight>
                  <a:srgbClr val="FFFFFF"/>
                </a:highlight>
              </a:rPr>
              <a:t>Artificial Intelligence – Understanding opportunities and limitations across disciplines</a:t>
            </a:r>
            <a:endParaRPr b="1" sz="7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7"/>
          <p:cNvSpPr txBox="1"/>
          <p:nvPr/>
        </p:nvSpPr>
        <p:spPr>
          <a:xfrm>
            <a:off x="311700" y="4677475"/>
            <a:ext cx="721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200">
                <a:solidFill>
                  <a:srgbClr val="000000"/>
                </a:solidFill>
              </a:rPr>
              <a:t>‹#›</a:t>
            </a:fld>
            <a:r>
              <a:rPr b="1" lang="en" sz="1200">
                <a:solidFill>
                  <a:srgbClr val="000000"/>
                </a:solidFill>
              </a:rPr>
              <a:t> | </a:t>
            </a:r>
            <a:r>
              <a:rPr lang="en" sz="950">
                <a:solidFill>
                  <a:schemeClr val="dk1"/>
                </a:solidFill>
                <a:highlight>
                  <a:srgbClr val="FFFFFF"/>
                </a:highlight>
              </a:rPr>
              <a:t>Artificial Intelligence – Understanding opportunities and limitations across disciplines</a:t>
            </a:r>
            <a:endParaRPr b="1" sz="7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8"/>
          <p:cNvSpPr txBox="1"/>
          <p:nvPr/>
        </p:nvSpPr>
        <p:spPr>
          <a:xfrm>
            <a:off x="311700" y="4677475"/>
            <a:ext cx="721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200">
                <a:solidFill>
                  <a:srgbClr val="000000"/>
                </a:solidFill>
              </a:rPr>
              <a:t>‹#›</a:t>
            </a:fld>
            <a:r>
              <a:rPr b="1" lang="en" sz="1200">
                <a:solidFill>
                  <a:srgbClr val="000000"/>
                </a:solidFill>
              </a:rPr>
              <a:t> | </a:t>
            </a:r>
            <a:r>
              <a:rPr lang="en" sz="950">
                <a:solidFill>
                  <a:schemeClr val="dk1"/>
                </a:solidFill>
                <a:highlight>
                  <a:srgbClr val="FFFFFF"/>
                </a:highlight>
              </a:rPr>
              <a:t>Artificial Intelligence – Understanding opportunities and limitations across disciplines</a:t>
            </a:r>
            <a:endParaRPr b="1" sz="7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" name="Google Shape;46;p9"/>
          <p:cNvSpPr txBox="1"/>
          <p:nvPr/>
        </p:nvSpPr>
        <p:spPr>
          <a:xfrm>
            <a:off x="311700" y="4677475"/>
            <a:ext cx="721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200">
                <a:solidFill>
                  <a:srgbClr val="000000"/>
                </a:solidFill>
              </a:rPr>
              <a:t>‹#›</a:t>
            </a:fld>
            <a:r>
              <a:rPr b="1" lang="en" sz="1200">
                <a:solidFill>
                  <a:srgbClr val="000000"/>
                </a:solidFill>
              </a:rPr>
              <a:t> | </a:t>
            </a:r>
            <a:r>
              <a:rPr lang="en" sz="950">
                <a:solidFill>
                  <a:schemeClr val="dk1"/>
                </a:solidFill>
                <a:highlight>
                  <a:srgbClr val="FFFFFF"/>
                </a:highlight>
              </a:rPr>
              <a:t>Artificial Intelligence – Understanding opportunities and limitations across disciplines</a:t>
            </a:r>
            <a:endParaRPr b="1" sz="7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10"/>
          <p:cNvSpPr txBox="1"/>
          <p:nvPr/>
        </p:nvSpPr>
        <p:spPr>
          <a:xfrm>
            <a:off x="311700" y="4677475"/>
            <a:ext cx="721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200">
                <a:solidFill>
                  <a:srgbClr val="000000"/>
                </a:solidFill>
              </a:rPr>
              <a:t>‹#›</a:t>
            </a:fld>
            <a:r>
              <a:rPr b="1" lang="en" sz="1200">
                <a:solidFill>
                  <a:srgbClr val="000000"/>
                </a:solidFill>
              </a:rPr>
              <a:t> | </a:t>
            </a:r>
            <a:r>
              <a:rPr lang="en" sz="950">
                <a:solidFill>
                  <a:schemeClr val="dk1"/>
                </a:solidFill>
                <a:highlight>
                  <a:srgbClr val="FFFFFF"/>
                </a:highlight>
              </a:rPr>
              <a:t>Artificial Intelligence – Understanding opportunities and limitations across disciplines</a:t>
            </a:r>
            <a:endParaRPr b="1" sz="7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11"/>
          <p:cNvSpPr txBox="1"/>
          <p:nvPr/>
        </p:nvSpPr>
        <p:spPr>
          <a:xfrm>
            <a:off x="311700" y="4677475"/>
            <a:ext cx="721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200">
                <a:solidFill>
                  <a:srgbClr val="000000"/>
                </a:solidFill>
              </a:rPr>
              <a:t>‹#›</a:t>
            </a:fld>
            <a:r>
              <a:rPr b="1" lang="en" sz="1200">
                <a:solidFill>
                  <a:srgbClr val="000000"/>
                </a:solidFill>
              </a:rPr>
              <a:t> | </a:t>
            </a:r>
            <a:r>
              <a:rPr lang="en" sz="950">
                <a:solidFill>
                  <a:schemeClr val="dk1"/>
                </a:solidFill>
                <a:highlight>
                  <a:srgbClr val="FFFFFF"/>
                </a:highlight>
              </a:rPr>
              <a:t>Artificial Intelligence – Understanding opportunities and limitations across disciplines</a:t>
            </a:r>
            <a:endParaRPr b="1" sz="7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12"/>
          <p:cNvSpPr txBox="1"/>
          <p:nvPr/>
        </p:nvSpPr>
        <p:spPr>
          <a:xfrm>
            <a:off x="311700" y="4677475"/>
            <a:ext cx="7219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" sz="1200">
                <a:solidFill>
                  <a:srgbClr val="000000"/>
                </a:solidFill>
              </a:rPr>
              <a:t>‹#›</a:t>
            </a:fld>
            <a:r>
              <a:rPr b="1" lang="en" sz="1200">
                <a:solidFill>
                  <a:srgbClr val="000000"/>
                </a:solidFill>
              </a:rPr>
              <a:t> | </a:t>
            </a:r>
            <a:r>
              <a:rPr lang="en" sz="950">
                <a:solidFill>
                  <a:schemeClr val="dk1"/>
                </a:solidFill>
                <a:highlight>
                  <a:srgbClr val="FFFFFF"/>
                </a:highlight>
              </a:rPr>
              <a:t>Artificial Intelligence – Understanding opportunities and limitations across disciplines</a:t>
            </a:r>
            <a:endParaRPr b="1" sz="7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jp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learnopencv.com/understanding-feedforward-neural-networks/" TargetMode="External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towardsdatascience.com/a-comprehensive-guide-to-convolutional-neural-networks-the-eli5-way-3bd2b1164a53" TargetMode="External"/><Relationship Id="rId4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hyperlink" Target="https://towardsdatascience.com/introducing-recurrent-neural-networks-f359653d7020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hyperlink" Target="https://www.solulab.com/generative-adversarial-network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8.png"/><Relationship Id="rId8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2l.ai/index.html" TargetMode="External"/><Relationship Id="rId4" Type="http://schemas.openxmlformats.org/officeDocument/2006/relationships/hyperlink" Target="https://aws.amazon.com/what-is/neural-network/" TargetMode="External"/><Relationship Id="rId5" Type="http://schemas.openxmlformats.org/officeDocument/2006/relationships/hyperlink" Target="https://www.geeksforgeeks.org/neural-networks-a-beginners-guide/" TargetMode="External"/><Relationship Id="rId6" Type="http://schemas.openxmlformats.org/officeDocument/2006/relationships/hyperlink" Target="https://www.coursera.org/articles/neural-network-exampl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/>
          <p:nvPr/>
        </p:nvSpPr>
        <p:spPr>
          <a:xfrm>
            <a:off x="0" y="3000"/>
            <a:ext cx="9144000" cy="188700"/>
          </a:xfrm>
          <a:prstGeom prst="rect">
            <a:avLst/>
          </a:prstGeom>
          <a:solidFill>
            <a:srgbClr val="6916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80612"/>
            <a:ext cx="9143999" cy="351072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3"/>
          <p:cNvSpPr/>
          <p:nvPr/>
        </p:nvSpPr>
        <p:spPr>
          <a:xfrm>
            <a:off x="6991889" y="3751506"/>
            <a:ext cx="1692900" cy="107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03839" y="4066474"/>
            <a:ext cx="1269000" cy="441965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/>
        </p:nvSpPr>
        <p:spPr>
          <a:xfrm>
            <a:off x="1939350" y="443598"/>
            <a:ext cx="52653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NETWORKS</a:t>
            </a:r>
            <a:endParaRPr sz="4000"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0" y="4991325"/>
            <a:ext cx="9144000" cy="188700"/>
          </a:xfrm>
          <a:prstGeom prst="rect">
            <a:avLst/>
          </a:prstGeom>
          <a:solidFill>
            <a:srgbClr val="6916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" name="Google Shape;69;p13"/>
          <p:cNvGrpSpPr/>
          <p:nvPr/>
        </p:nvGrpSpPr>
        <p:grpSpPr>
          <a:xfrm>
            <a:off x="114048" y="3740375"/>
            <a:ext cx="3996637" cy="1082819"/>
            <a:chOff x="857375" y="5431208"/>
            <a:chExt cx="5328849" cy="958417"/>
          </a:xfrm>
        </p:grpSpPr>
        <p:pic>
          <p:nvPicPr>
            <p:cNvPr id="70" name="Google Shape;70;p1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57375" y="5440900"/>
              <a:ext cx="5328849" cy="948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1" name="Google Shape;71;p13"/>
            <p:cNvSpPr txBox="1"/>
            <p:nvPr/>
          </p:nvSpPr>
          <p:spPr>
            <a:xfrm>
              <a:off x="857378" y="5431208"/>
              <a:ext cx="5272500" cy="88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Course</a:t>
              </a:r>
              <a:r>
                <a:rPr lang="en" sz="10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:</a:t>
              </a:r>
              <a:br>
                <a:rPr lang="en" sz="10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</a:br>
              <a:r>
                <a:rPr lang="en" sz="10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Artificial Intelligence – Understanding opportunities and limitations across disciplines</a:t>
              </a:r>
              <a:endParaRPr sz="10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chemeClr val="dk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10th January 2025, </a:t>
              </a:r>
              <a:endParaRPr b="1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Vignesh Mallya, Mohamed Elsafty</a:t>
              </a:r>
              <a:endParaRPr sz="10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CONTENT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77" name="Google Shape;77;p14"/>
          <p:cNvGrpSpPr/>
          <p:nvPr/>
        </p:nvGrpSpPr>
        <p:grpSpPr>
          <a:xfrm>
            <a:off x="619049" y="1408058"/>
            <a:ext cx="2547091" cy="284395"/>
            <a:chOff x="304400" y="1038050"/>
            <a:chExt cx="5191788" cy="781949"/>
          </a:xfrm>
        </p:grpSpPr>
        <p:sp>
          <p:nvSpPr>
            <p:cNvPr id="78" name="Google Shape;78;p14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4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WHAT ARE NEURAL NETWORKS</a:t>
              </a:r>
              <a:endParaRPr i="0" sz="1000" u="none" cap="none" strike="noStrike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80" name="Google Shape;80;p14"/>
          <p:cNvSpPr txBox="1"/>
          <p:nvPr/>
        </p:nvSpPr>
        <p:spPr>
          <a:xfrm>
            <a:off x="619050" y="911551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01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81" name="Google Shape;81;p14"/>
          <p:cNvGrpSpPr/>
          <p:nvPr/>
        </p:nvGrpSpPr>
        <p:grpSpPr>
          <a:xfrm>
            <a:off x="3302324" y="1408058"/>
            <a:ext cx="2547091" cy="284395"/>
            <a:chOff x="304400" y="1038050"/>
            <a:chExt cx="5191788" cy="781949"/>
          </a:xfrm>
        </p:grpSpPr>
        <p:sp>
          <p:nvSpPr>
            <p:cNvPr id="82" name="Google Shape;82;p14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4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2471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Inter"/>
                <a:buNone/>
              </a:pPr>
              <a:r>
                <a:rPr lang="en" sz="1000">
                  <a:solidFill>
                    <a:schemeClr val="dk1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BIOLOGICAL INSPIRATION</a:t>
              </a:r>
              <a:endParaRPr sz="1000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84" name="Google Shape;84;p14"/>
          <p:cNvSpPr txBox="1"/>
          <p:nvPr/>
        </p:nvSpPr>
        <p:spPr>
          <a:xfrm>
            <a:off x="3302325" y="911551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02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85" name="Google Shape;85;p14"/>
          <p:cNvGrpSpPr/>
          <p:nvPr/>
        </p:nvGrpSpPr>
        <p:grpSpPr>
          <a:xfrm>
            <a:off x="5977874" y="1408058"/>
            <a:ext cx="2547091" cy="284395"/>
            <a:chOff x="304400" y="1038050"/>
            <a:chExt cx="5191788" cy="781949"/>
          </a:xfrm>
        </p:grpSpPr>
        <p:sp>
          <p:nvSpPr>
            <p:cNvPr id="86" name="Google Shape;86;p14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HOW NN WORKS</a:t>
              </a:r>
              <a:endParaRPr i="0" sz="1000" u="none" cap="none" strike="noStrike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88" name="Google Shape;88;p14"/>
          <p:cNvSpPr txBox="1"/>
          <p:nvPr/>
        </p:nvSpPr>
        <p:spPr>
          <a:xfrm>
            <a:off x="5977875" y="911551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03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89" name="Google Shape;89;p14"/>
          <p:cNvGrpSpPr/>
          <p:nvPr/>
        </p:nvGrpSpPr>
        <p:grpSpPr>
          <a:xfrm>
            <a:off x="619037" y="2499733"/>
            <a:ext cx="2547091" cy="284395"/>
            <a:chOff x="304400" y="1038050"/>
            <a:chExt cx="5191788" cy="781949"/>
          </a:xfrm>
        </p:grpSpPr>
        <p:sp>
          <p:nvSpPr>
            <p:cNvPr id="90" name="Google Shape;90;p14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TYPES OF NN</a:t>
              </a:r>
              <a:endParaRPr i="0" sz="1000" u="none" cap="none" strike="noStrike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92" name="Google Shape;92;p14"/>
          <p:cNvSpPr txBox="1"/>
          <p:nvPr/>
        </p:nvSpPr>
        <p:spPr>
          <a:xfrm>
            <a:off x="619038" y="2003226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04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93" name="Google Shape;93;p14"/>
          <p:cNvGrpSpPr/>
          <p:nvPr/>
        </p:nvGrpSpPr>
        <p:grpSpPr>
          <a:xfrm>
            <a:off x="3302312" y="2499733"/>
            <a:ext cx="2547091" cy="284395"/>
            <a:chOff x="304400" y="1038050"/>
            <a:chExt cx="5191788" cy="781949"/>
          </a:xfrm>
        </p:grpSpPr>
        <p:sp>
          <p:nvSpPr>
            <p:cNvPr id="94" name="Google Shape;94;p14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ADVANTAGES</a:t>
              </a:r>
              <a:endParaRPr i="0" sz="1000" u="none" cap="none" strike="noStrike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96" name="Google Shape;96;p14"/>
          <p:cNvSpPr txBox="1"/>
          <p:nvPr/>
        </p:nvSpPr>
        <p:spPr>
          <a:xfrm>
            <a:off x="3302313" y="2003226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05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97" name="Google Shape;97;p14"/>
          <p:cNvGrpSpPr/>
          <p:nvPr/>
        </p:nvGrpSpPr>
        <p:grpSpPr>
          <a:xfrm>
            <a:off x="5977862" y="2499733"/>
            <a:ext cx="2547091" cy="284395"/>
            <a:chOff x="304400" y="1038050"/>
            <a:chExt cx="5191788" cy="781949"/>
          </a:xfrm>
        </p:grpSpPr>
        <p:sp>
          <p:nvSpPr>
            <p:cNvPr id="98" name="Google Shape;98;p14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APPLICATIONS</a:t>
              </a:r>
              <a:endParaRPr i="0" sz="800" u="none" cap="none" strike="noStrike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100" name="Google Shape;100;p14"/>
          <p:cNvSpPr txBox="1"/>
          <p:nvPr/>
        </p:nvSpPr>
        <p:spPr>
          <a:xfrm>
            <a:off x="5977863" y="2003226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06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837174" y="3591408"/>
            <a:ext cx="2547091" cy="284395"/>
            <a:chOff x="304400" y="1038050"/>
            <a:chExt cx="5191788" cy="781949"/>
          </a:xfrm>
        </p:grpSpPr>
        <p:sp>
          <p:nvSpPr>
            <p:cNvPr id="102" name="Google Shape;102;p14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8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ETHICAL IMPLICATIONS AND LIMITATIONS</a:t>
              </a:r>
              <a:endParaRPr sz="1000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104" name="Google Shape;104;p14"/>
          <p:cNvSpPr txBox="1"/>
          <p:nvPr/>
        </p:nvSpPr>
        <p:spPr>
          <a:xfrm>
            <a:off x="1837175" y="3094901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07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grpSp>
        <p:nvGrpSpPr>
          <p:cNvPr id="105" name="Google Shape;105;p14"/>
          <p:cNvGrpSpPr/>
          <p:nvPr/>
        </p:nvGrpSpPr>
        <p:grpSpPr>
          <a:xfrm>
            <a:off x="4520449" y="3591408"/>
            <a:ext cx="2547091" cy="284395"/>
            <a:chOff x="304400" y="1038050"/>
            <a:chExt cx="5191788" cy="781949"/>
          </a:xfrm>
        </p:grpSpPr>
        <p:sp>
          <p:nvSpPr>
            <p:cNvPr id="106" name="Google Shape;106;p14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CHALLENGES</a:t>
              </a:r>
              <a:endParaRPr i="0" sz="1000" u="none" cap="none" strike="noStrike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108" name="Google Shape;108;p14"/>
          <p:cNvSpPr txBox="1"/>
          <p:nvPr/>
        </p:nvSpPr>
        <p:spPr>
          <a:xfrm>
            <a:off x="4520450" y="3094901"/>
            <a:ext cx="73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08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5319250" y="4423000"/>
            <a:ext cx="283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Mohamed Elsafty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chemeClr val="dk1"/>
                </a:solidFill>
              </a:rPr>
              <a:t> Topic 1, 2, 4, 7, 8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Vignesh Mallya   :</a:t>
            </a:r>
            <a:r>
              <a:rPr lang="en" sz="1100">
                <a:solidFill>
                  <a:schemeClr val="dk1"/>
                </a:solidFill>
              </a:rPr>
              <a:t> Topic 3, 4, 5, 6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91633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/>
        </p:nvSpPr>
        <p:spPr>
          <a:xfrm>
            <a:off x="2373900" y="2022150"/>
            <a:ext cx="4396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WHAT ARE NEURAL NETWORKS?</a:t>
            </a:r>
            <a:endParaRPr sz="3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</a:t>
            </a: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NETWORKS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120" name="Google Shape;120;p16"/>
          <p:cNvGrpSpPr/>
          <p:nvPr/>
        </p:nvGrpSpPr>
        <p:grpSpPr>
          <a:xfrm>
            <a:off x="758849" y="593358"/>
            <a:ext cx="2547091" cy="284395"/>
            <a:chOff x="304400" y="1038050"/>
            <a:chExt cx="5191788" cy="781949"/>
          </a:xfrm>
        </p:grpSpPr>
        <p:sp>
          <p:nvSpPr>
            <p:cNvPr id="121" name="Google Shape;121;p16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6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rgbClr val="140A1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WHAT ARE NEURAL NETWORKS?</a:t>
              </a:r>
              <a:endParaRPr b="1" i="0" sz="1000" u="none" cap="none" strike="noStrike">
                <a:solidFill>
                  <a:srgbClr val="140A1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descr="preencoded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9886" y="1340377"/>
            <a:ext cx="3117429" cy="2449787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667625" y="1214187"/>
            <a:ext cx="2207700" cy="121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72525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85725">
              <a:srgbClr val="691633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47125" y="1254314"/>
            <a:ext cx="20472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72525"/>
                </a:solidFill>
              </a:rPr>
              <a:t>Algorithms that Learn</a:t>
            </a:r>
            <a:endParaRPr b="1" sz="1200">
              <a:solidFill>
                <a:schemeClr val="dk2"/>
              </a:solidFill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739025" y="1525264"/>
            <a:ext cx="20043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525"/>
                </a:solidFill>
              </a:rPr>
              <a:t>Neural networks are algorithms designed to identify patterns within data.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6342600" y="1214187"/>
            <a:ext cx="2207700" cy="121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72525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85725">
              <a:srgbClr val="691633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422100" y="1254314"/>
            <a:ext cx="20472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72525"/>
                </a:solidFill>
              </a:rPr>
              <a:t>Connection Adjustment</a:t>
            </a:r>
            <a:endParaRPr b="1" sz="1200">
              <a:solidFill>
                <a:srgbClr val="272525"/>
              </a:solidFill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6414000" y="1525264"/>
            <a:ext cx="20472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000"/>
              <a:buFont typeface="Inter"/>
              <a:buNone/>
            </a:pPr>
            <a:r>
              <a:rPr lang="en" sz="900">
                <a:solidFill>
                  <a:srgbClr val="272525"/>
                </a:solidFill>
              </a:rPr>
              <a:t>The connections between neurons are dynamically adjusted based on the input data to optimize predictive capabilities.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272525"/>
              </a:solidFill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667625" y="2776937"/>
            <a:ext cx="2207700" cy="121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72525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85725">
              <a:srgbClr val="691633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747125" y="2817064"/>
            <a:ext cx="20472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72525"/>
                </a:solidFill>
              </a:rPr>
              <a:t>Interconnected Neurons</a:t>
            </a:r>
            <a:endParaRPr b="1" sz="1200">
              <a:solidFill>
                <a:srgbClr val="272525"/>
              </a:solidFill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739025" y="3088014"/>
            <a:ext cx="20043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525"/>
                </a:solidFill>
              </a:rPr>
              <a:t>These algorithms are composed of interconnected 'neurons', organized into layers.</a:t>
            </a:r>
            <a:endParaRPr sz="1000">
              <a:solidFill>
                <a:srgbClr val="272525"/>
              </a:solidFill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6341850" y="2776937"/>
            <a:ext cx="2207700" cy="1217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272525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85725">
              <a:srgbClr val="691633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421350" y="2817064"/>
            <a:ext cx="20472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72525"/>
                </a:solidFill>
              </a:rPr>
              <a:t>Function Approximators</a:t>
            </a:r>
            <a:endParaRPr b="1" sz="1200">
              <a:solidFill>
                <a:srgbClr val="272525"/>
              </a:solidFill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6413250" y="3088014"/>
            <a:ext cx="2136300" cy="8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525"/>
                </a:solidFill>
              </a:rPr>
              <a:t>Essentially, they are sophisticated function approximators that learn through iterative examples.</a:t>
            </a:r>
            <a:endParaRPr sz="1000">
              <a:solidFill>
                <a:srgbClr val="27252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7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NETWORKS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141" name="Google Shape;141;p17"/>
          <p:cNvGrpSpPr/>
          <p:nvPr/>
        </p:nvGrpSpPr>
        <p:grpSpPr>
          <a:xfrm>
            <a:off x="758849" y="593358"/>
            <a:ext cx="2547091" cy="284395"/>
            <a:chOff x="304400" y="1038050"/>
            <a:chExt cx="5191788" cy="781949"/>
          </a:xfrm>
        </p:grpSpPr>
        <p:sp>
          <p:nvSpPr>
            <p:cNvPr id="142" name="Google Shape;142;p17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24719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Inter"/>
                <a:buNone/>
              </a:pPr>
              <a:r>
                <a:rPr b="1" lang="en" sz="11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BIOLOGICAL INSPIRATION</a:t>
              </a:r>
              <a:endParaRPr b="1" sz="1100">
                <a:solidFill>
                  <a:srgbClr val="140A1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pic>
        <p:nvPicPr>
          <p:cNvPr descr="preencoded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55" y="1092155"/>
            <a:ext cx="3074640" cy="307464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/>
          <p:nvPr/>
        </p:nvSpPr>
        <p:spPr>
          <a:xfrm>
            <a:off x="4846531" y="1035400"/>
            <a:ext cx="33024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lang="en" sz="1500">
                <a:solidFill>
                  <a:srgbClr val="272525"/>
                </a:solidFill>
              </a:rPr>
              <a:t>Biological Neural Networks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4846514" y="1341909"/>
            <a:ext cx="38013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" sz="1200">
                <a:solidFill>
                  <a:srgbClr val="272525"/>
                </a:solidFill>
              </a:rPr>
              <a:t>Brains contain billions of interconnected neurons; the strength of these connections changes through learning.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4846532" y="2169475"/>
            <a:ext cx="30033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lang="en" sz="1500">
                <a:solidFill>
                  <a:srgbClr val="272525"/>
                </a:solidFill>
              </a:rPr>
              <a:t>Mimicking the Process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4846514" y="2475979"/>
            <a:ext cx="38013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" sz="1200">
                <a:solidFill>
                  <a:srgbClr val="272525"/>
                </a:solidFill>
              </a:rPr>
              <a:t>Artificial networks mimic this by adjusting weights during training.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4846532" y="3303550"/>
            <a:ext cx="29343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lang="en" sz="1500">
                <a:solidFill>
                  <a:srgbClr val="272525"/>
                </a:solidFill>
              </a:rPr>
              <a:t>Flexibility and Power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4846514" y="3610049"/>
            <a:ext cx="38013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" sz="1200">
                <a:solidFill>
                  <a:srgbClr val="272525"/>
                </a:solidFill>
              </a:rPr>
              <a:t>This brain-inspired architecture gives neural networks their flexibility and power.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51" name="Google Shape;151;p17"/>
          <p:cNvSpPr/>
          <p:nvPr/>
        </p:nvSpPr>
        <p:spPr>
          <a:xfrm rot="5400000">
            <a:off x="3704713" y="1100950"/>
            <a:ext cx="1149600" cy="703200"/>
          </a:xfrm>
          <a:prstGeom prst="chevron">
            <a:avLst>
              <a:gd fmla="val 19574" name="adj"/>
            </a:avLst>
          </a:prstGeom>
          <a:solidFill>
            <a:srgbClr val="6916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 rot="5400000">
            <a:off x="3704713" y="2220150"/>
            <a:ext cx="1149600" cy="703200"/>
          </a:xfrm>
          <a:prstGeom prst="chevron">
            <a:avLst>
              <a:gd fmla="val 19574" name="adj"/>
            </a:avLst>
          </a:prstGeom>
          <a:solidFill>
            <a:srgbClr val="6916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 rot="5400000">
            <a:off x="3704713" y="3369750"/>
            <a:ext cx="1149600" cy="703200"/>
          </a:xfrm>
          <a:prstGeom prst="chevron">
            <a:avLst>
              <a:gd fmla="val 19574" name="adj"/>
            </a:avLst>
          </a:prstGeom>
          <a:solidFill>
            <a:srgbClr val="69163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4147250" y="1226242"/>
            <a:ext cx="279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1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55" name="Google Shape;155;p17"/>
          <p:cNvSpPr txBox="1"/>
          <p:nvPr/>
        </p:nvSpPr>
        <p:spPr>
          <a:xfrm>
            <a:off x="4147250" y="2353342"/>
            <a:ext cx="279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2</a:t>
            </a:r>
            <a:endParaRPr sz="1800">
              <a:solidFill>
                <a:schemeClr val="lt1"/>
              </a:solidFill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4140025" y="3480442"/>
            <a:ext cx="279000" cy="2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</a:rPr>
              <a:t>3</a:t>
            </a:r>
            <a:endParaRPr sz="1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91633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 txBox="1"/>
          <p:nvPr/>
        </p:nvSpPr>
        <p:spPr>
          <a:xfrm>
            <a:off x="2373900" y="2022150"/>
            <a:ext cx="4396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HOW </a:t>
            </a:r>
            <a:r>
              <a:rPr lang="en" sz="3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NEURAL NETWORKS WORK?</a:t>
            </a:r>
            <a:endParaRPr sz="3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NETWORKS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167" name="Google Shape;167;p19"/>
          <p:cNvGrpSpPr/>
          <p:nvPr/>
        </p:nvGrpSpPr>
        <p:grpSpPr>
          <a:xfrm>
            <a:off x="758849" y="593358"/>
            <a:ext cx="2547091" cy="284395"/>
            <a:chOff x="304400" y="1038050"/>
            <a:chExt cx="5191788" cy="781949"/>
          </a:xfrm>
        </p:grpSpPr>
        <p:sp>
          <p:nvSpPr>
            <p:cNvPr id="168" name="Google Shape;168;p19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9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rgbClr val="140A1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HOW </a:t>
              </a:r>
              <a:r>
                <a:rPr b="1" lang="en" sz="1000">
                  <a:solidFill>
                    <a:srgbClr val="140A1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NEURAL NETWORKS WORKS?</a:t>
              </a:r>
              <a:endParaRPr b="1" i="0" sz="1000" u="none" cap="none" strike="noStrike">
                <a:solidFill>
                  <a:srgbClr val="140A1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170" name="Google Shape;170;p19"/>
          <p:cNvSpPr/>
          <p:nvPr/>
        </p:nvSpPr>
        <p:spPr>
          <a:xfrm>
            <a:off x="2445100" y="2138034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2445100" y="2982531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3713879" y="1796159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3713879" y="2640656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3713879" y="3485153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062454" y="1402525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062454" y="2247022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062454" y="3091519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"/>
          <p:cNvSpPr/>
          <p:nvPr/>
        </p:nvSpPr>
        <p:spPr>
          <a:xfrm>
            <a:off x="5062454" y="4034891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6411028" y="2138049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"/>
          <p:cNvSpPr/>
          <p:nvPr/>
        </p:nvSpPr>
        <p:spPr>
          <a:xfrm>
            <a:off x="6411028" y="2982546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1" name="Google Shape;181;p19"/>
          <p:cNvCxnSpPr>
            <a:stCxn id="170" idx="6"/>
            <a:endCxn id="172" idx="2"/>
          </p:cNvCxnSpPr>
          <p:nvPr/>
        </p:nvCxnSpPr>
        <p:spPr>
          <a:xfrm flipH="1" rot="10800000">
            <a:off x="2837200" y="1992834"/>
            <a:ext cx="876600" cy="34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19"/>
          <p:cNvCxnSpPr>
            <a:stCxn id="170" idx="6"/>
            <a:endCxn id="173" idx="2"/>
          </p:cNvCxnSpPr>
          <p:nvPr/>
        </p:nvCxnSpPr>
        <p:spPr>
          <a:xfrm>
            <a:off x="2837200" y="2334834"/>
            <a:ext cx="876600" cy="50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19"/>
          <p:cNvCxnSpPr>
            <a:stCxn id="171" idx="6"/>
            <a:endCxn id="173" idx="2"/>
          </p:cNvCxnSpPr>
          <p:nvPr/>
        </p:nvCxnSpPr>
        <p:spPr>
          <a:xfrm flipH="1" rot="10800000">
            <a:off x="2837200" y="2837331"/>
            <a:ext cx="876600" cy="34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19"/>
          <p:cNvCxnSpPr>
            <a:stCxn id="171" idx="6"/>
            <a:endCxn id="174" idx="2"/>
          </p:cNvCxnSpPr>
          <p:nvPr/>
        </p:nvCxnSpPr>
        <p:spPr>
          <a:xfrm>
            <a:off x="2837200" y="3179331"/>
            <a:ext cx="876600" cy="50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19"/>
          <p:cNvCxnSpPr>
            <a:stCxn id="171" idx="6"/>
            <a:endCxn id="172" idx="2"/>
          </p:cNvCxnSpPr>
          <p:nvPr/>
        </p:nvCxnSpPr>
        <p:spPr>
          <a:xfrm flipH="1" rot="10800000">
            <a:off x="2837200" y="1992831"/>
            <a:ext cx="876600" cy="118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19"/>
          <p:cNvCxnSpPr>
            <a:stCxn id="170" idx="6"/>
            <a:endCxn id="174" idx="2"/>
          </p:cNvCxnSpPr>
          <p:nvPr/>
        </p:nvCxnSpPr>
        <p:spPr>
          <a:xfrm>
            <a:off x="2837200" y="2334834"/>
            <a:ext cx="876600" cy="134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19"/>
          <p:cNvCxnSpPr>
            <a:stCxn id="172" idx="6"/>
            <a:endCxn id="175" idx="2"/>
          </p:cNvCxnSpPr>
          <p:nvPr/>
        </p:nvCxnSpPr>
        <p:spPr>
          <a:xfrm flipH="1" rot="10800000">
            <a:off x="4105979" y="1599359"/>
            <a:ext cx="9564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19"/>
          <p:cNvCxnSpPr>
            <a:stCxn id="172" idx="6"/>
            <a:endCxn id="176" idx="2"/>
          </p:cNvCxnSpPr>
          <p:nvPr/>
        </p:nvCxnSpPr>
        <p:spPr>
          <a:xfrm>
            <a:off x="4105979" y="1992959"/>
            <a:ext cx="956400" cy="45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19"/>
          <p:cNvCxnSpPr>
            <a:stCxn id="172" idx="6"/>
            <a:endCxn id="177" idx="2"/>
          </p:cNvCxnSpPr>
          <p:nvPr/>
        </p:nvCxnSpPr>
        <p:spPr>
          <a:xfrm>
            <a:off x="4105979" y="1992959"/>
            <a:ext cx="956400" cy="129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" name="Google Shape;190;p19"/>
          <p:cNvCxnSpPr>
            <a:stCxn id="172" idx="6"/>
            <a:endCxn id="178" idx="2"/>
          </p:cNvCxnSpPr>
          <p:nvPr/>
        </p:nvCxnSpPr>
        <p:spPr>
          <a:xfrm>
            <a:off x="4105979" y="1992959"/>
            <a:ext cx="956400" cy="223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19"/>
          <p:cNvCxnSpPr>
            <a:stCxn id="173" idx="6"/>
            <a:endCxn id="175" idx="2"/>
          </p:cNvCxnSpPr>
          <p:nvPr/>
        </p:nvCxnSpPr>
        <p:spPr>
          <a:xfrm flipH="1" rot="10800000">
            <a:off x="4105979" y="1599356"/>
            <a:ext cx="956400" cy="123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19"/>
          <p:cNvCxnSpPr>
            <a:stCxn id="173" idx="6"/>
            <a:endCxn id="176" idx="2"/>
          </p:cNvCxnSpPr>
          <p:nvPr/>
        </p:nvCxnSpPr>
        <p:spPr>
          <a:xfrm flipH="1" rot="10800000">
            <a:off x="4105979" y="2443856"/>
            <a:ext cx="9564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19"/>
          <p:cNvCxnSpPr>
            <a:stCxn id="173" idx="6"/>
            <a:endCxn id="177" idx="2"/>
          </p:cNvCxnSpPr>
          <p:nvPr/>
        </p:nvCxnSpPr>
        <p:spPr>
          <a:xfrm>
            <a:off x="4105979" y="2837456"/>
            <a:ext cx="956400" cy="45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4" name="Google Shape;194;p19"/>
          <p:cNvCxnSpPr>
            <a:stCxn id="173" idx="6"/>
            <a:endCxn id="178" idx="2"/>
          </p:cNvCxnSpPr>
          <p:nvPr/>
        </p:nvCxnSpPr>
        <p:spPr>
          <a:xfrm>
            <a:off x="4105979" y="2837456"/>
            <a:ext cx="956400" cy="13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19"/>
          <p:cNvCxnSpPr>
            <a:stCxn id="174" idx="6"/>
            <a:endCxn id="175" idx="2"/>
          </p:cNvCxnSpPr>
          <p:nvPr/>
        </p:nvCxnSpPr>
        <p:spPr>
          <a:xfrm flipH="1" rot="10800000">
            <a:off x="4105979" y="1599353"/>
            <a:ext cx="956400" cy="208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19"/>
          <p:cNvCxnSpPr>
            <a:stCxn id="174" idx="6"/>
            <a:endCxn id="176" idx="2"/>
          </p:cNvCxnSpPr>
          <p:nvPr/>
        </p:nvCxnSpPr>
        <p:spPr>
          <a:xfrm flipH="1" rot="10800000">
            <a:off x="4105979" y="2443853"/>
            <a:ext cx="956400" cy="123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19"/>
          <p:cNvCxnSpPr>
            <a:stCxn id="174" idx="6"/>
            <a:endCxn id="177" idx="2"/>
          </p:cNvCxnSpPr>
          <p:nvPr/>
        </p:nvCxnSpPr>
        <p:spPr>
          <a:xfrm flipH="1" rot="10800000">
            <a:off x="4105979" y="3288353"/>
            <a:ext cx="9564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8" name="Google Shape;198;p19"/>
          <p:cNvCxnSpPr>
            <a:stCxn id="174" idx="6"/>
            <a:endCxn id="178" idx="2"/>
          </p:cNvCxnSpPr>
          <p:nvPr/>
        </p:nvCxnSpPr>
        <p:spPr>
          <a:xfrm>
            <a:off x="4105979" y="3681953"/>
            <a:ext cx="956400" cy="54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19"/>
          <p:cNvCxnSpPr>
            <a:stCxn id="175" idx="6"/>
            <a:endCxn id="179" idx="2"/>
          </p:cNvCxnSpPr>
          <p:nvPr/>
        </p:nvCxnSpPr>
        <p:spPr>
          <a:xfrm>
            <a:off x="5454554" y="1599325"/>
            <a:ext cx="956400" cy="73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" name="Google Shape;200;p19"/>
          <p:cNvCxnSpPr>
            <a:stCxn id="175" idx="6"/>
            <a:endCxn id="180" idx="2"/>
          </p:cNvCxnSpPr>
          <p:nvPr/>
        </p:nvCxnSpPr>
        <p:spPr>
          <a:xfrm>
            <a:off x="5454554" y="1599325"/>
            <a:ext cx="956400" cy="158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19"/>
          <p:cNvCxnSpPr>
            <a:stCxn id="176" idx="6"/>
            <a:endCxn id="179" idx="2"/>
          </p:cNvCxnSpPr>
          <p:nvPr/>
        </p:nvCxnSpPr>
        <p:spPr>
          <a:xfrm flipH="1" rot="10800000">
            <a:off x="5454554" y="2334922"/>
            <a:ext cx="956400" cy="10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19"/>
          <p:cNvCxnSpPr>
            <a:stCxn id="176" idx="6"/>
            <a:endCxn id="180" idx="2"/>
          </p:cNvCxnSpPr>
          <p:nvPr/>
        </p:nvCxnSpPr>
        <p:spPr>
          <a:xfrm>
            <a:off x="5454554" y="2443822"/>
            <a:ext cx="956400" cy="73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19"/>
          <p:cNvCxnSpPr>
            <a:stCxn id="177" idx="6"/>
            <a:endCxn id="179" idx="2"/>
          </p:cNvCxnSpPr>
          <p:nvPr/>
        </p:nvCxnSpPr>
        <p:spPr>
          <a:xfrm flipH="1" rot="10800000">
            <a:off x="5454554" y="2334919"/>
            <a:ext cx="956400" cy="95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19"/>
          <p:cNvCxnSpPr>
            <a:stCxn id="177" idx="6"/>
            <a:endCxn id="180" idx="2"/>
          </p:cNvCxnSpPr>
          <p:nvPr/>
        </p:nvCxnSpPr>
        <p:spPr>
          <a:xfrm flipH="1" rot="10800000">
            <a:off x="5454554" y="3179419"/>
            <a:ext cx="956400" cy="10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19"/>
          <p:cNvCxnSpPr>
            <a:stCxn id="178" idx="6"/>
            <a:endCxn id="180" idx="2"/>
          </p:cNvCxnSpPr>
          <p:nvPr/>
        </p:nvCxnSpPr>
        <p:spPr>
          <a:xfrm flipH="1" rot="10800000">
            <a:off x="5454554" y="3179291"/>
            <a:ext cx="956400" cy="105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19"/>
          <p:cNvCxnSpPr>
            <a:stCxn id="178" idx="6"/>
            <a:endCxn id="179" idx="2"/>
          </p:cNvCxnSpPr>
          <p:nvPr/>
        </p:nvCxnSpPr>
        <p:spPr>
          <a:xfrm flipH="1" rot="10800000">
            <a:off x="5454554" y="2334791"/>
            <a:ext cx="956400" cy="189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7" name="Google Shape;207;p19"/>
          <p:cNvSpPr txBox="1"/>
          <p:nvPr/>
        </p:nvSpPr>
        <p:spPr>
          <a:xfrm>
            <a:off x="1057500" y="1451325"/>
            <a:ext cx="13305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Input Layer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1423050" y="1870825"/>
            <a:ext cx="974375" cy="421600"/>
          </a:xfrm>
          <a:custGeom>
            <a:rect b="b" l="l" r="r" t="t"/>
            <a:pathLst>
              <a:path extrusionOk="0" h="16864" w="38975">
                <a:moveTo>
                  <a:pt x="0" y="0"/>
                </a:moveTo>
                <a:cubicBezTo>
                  <a:pt x="5260" y="13142"/>
                  <a:pt x="24819" y="16864"/>
                  <a:pt x="38975" y="16864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209" name="Google Shape;209;p19"/>
          <p:cNvSpPr txBox="1"/>
          <p:nvPr/>
        </p:nvSpPr>
        <p:spPr>
          <a:xfrm>
            <a:off x="4506400" y="348525"/>
            <a:ext cx="15042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Hidden</a:t>
            </a:r>
            <a:r>
              <a:rPr b="1" lang="en" sz="1500">
                <a:solidFill>
                  <a:schemeClr val="dk1"/>
                </a:solidFill>
              </a:rPr>
              <a:t> Layers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7299275" y="1428475"/>
            <a:ext cx="1637100" cy="3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Output</a:t>
            </a:r>
            <a:r>
              <a:rPr b="1" lang="en" sz="1500">
                <a:solidFill>
                  <a:schemeClr val="dk1"/>
                </a:solidFill>
              </a:rPr>
              <a:t> Layer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7299278" y="2531624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2" name="Google Shape;212;p19"/>
          <p:cNvCxnSpPr>
            <a:stCxn id="179" idx="6"/>
            <a:endCxn id="211" idx="2"/>
          </p:cNvCxnSpPr>
          <p:nvPr/>
        </p:nvCxnSpPr>
        <p:spPr>
          <a:xfrm>
            <a:off x="6803128" y="2334849"/>
            <a:ext cx="4962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19"/>
          <p:cNvCxnSpPr>
            <a:stCxn id="180" idx="6"/>
            <a:endCxn id="211" idx="2"/>
          </p:cNvCxnSpPr>
          <p:nvPr/>
        </p:nvCxnSpPr>
        <p:spPr>
          <a:xfrm flipH="1" rot="10800000">
            <a:off x="6803128" y="2728446"/>
            <a:ext cx="496200" cy="45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4" name="Google Shape;214;p19"/>
          <p:cNvSpPr/>
          <p:nvPr/>
        </p:nvSpPr>
        <p:spPr>
          <a:xfrm>
            <a:off x="4210125" y="661625"/>
            <a:ext cx="932225" cy="861300"/>
          </a:xfrm>
          <a:custGeom>
            <a:rect b="b" l="l" r="r" t="t"/>
            <a:pathLst>
              <a:path extrusionOk="0" h="34452" w="37289">
                <a:moveTo>
                  <a:pt x="37289" y="0"/>
                </a:moveTo>
                <a:cubicBezTo>
                  <a:pt x="31723" y="9274"/>
                  <a:pt x="16758" y="7695"/>
                  <a:pt x="8106" y="14186"/>
                </a:cubicBezTo>
                <a:cubicBezTo>
                  <a:pt x="2286" y="18552"/>
                  <a:pt x="0" y="27176"/>
                  <a:pt x="0" y="34452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215" name="Google Shape;215;p19"/>
          <p:cNvSpPr/>
          <p:nvPr/>
        </p:nvSpPr>
        <p:spPr>
          <a:xfrm>
            <a:off x="5152475" y="671750"/>
            <a:ext cx="60800" cy="445850"/>
          </a:xfrm>
          <a:custGeom>
            <a:rect b="b" l="l" r="r" t="t"/>
            <a:pathLst>
              <a:path extrusionOk="0" h="17834" w="2432">
                <a:moveTo>
                  <a:pt x="0" y="0"/>
                </a:moveTo>
                <a:cubicBezTo>
                  <a:pt x="0" y="6000"/>
                  <a:pt x="2432" y="11834"/>
                  <a:pt x="2432" y="17834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216" name="Google Shape;216;p19"/>
          <p:cNvSpPr/>
          <p:nvPr/>
        </p:nvSpPr>
        <p:spPr>
          <a:xfrm>
            <a:off x="5152475" y="681875"/>
            <a:ext cx="1053825" cy="790375"/>
          </a:xfrm>
          <a:custGeom>
            <a:rect b="b" l="l" r="r" t="t"/>
            <a:pathLst>
              <a:path extrusionOk="0" h="31615" w="42153">
                <a:moveTo>
                  <a:pt x="0" y="0"/>
                </a:moveTo>
                <a:cubicBezTo>
                  <a:pt x="15710" y="7855"/>
                  <a:pt x="42153" y="14051"/>
                  <a:pt x="42153" y="31615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217" name="Google Shape;217;p19"/>
          <p:cNvSpPr/>
          <p:nvPr/>
        </p:nvSpPr>
        <p:spPr>
          <a:xfrm>
            <a:off x="7714325" y="1826050"/>
            <a:ext cx="392112" cy="617818"/>
          </a:xfrm>
          <a:custGeom>
            <a:rect b="b" l="l" r="r" t="t"/>
            <a:pathLst>
              <a:path extrusionOk="0" h="27038" w="11061">
                <a:moveTo>
                  <a:pt x="11061" y="0"/>
                </a:moveTo>
                <a:cubicBezTo>
                  <a:pt x="11061" y="9738"/>
                  <a:pt x="9738" y="27038"/>
                  <a:pt x="0" y="27038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NETWORKS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223" name="Google Shape;223;p20"/>
          <p:cNvGrpSpPr/>
          <p:nvPr/>
        </p:nvGrpSpPr>
        <p:grpSpPr>
          <a:xfrm>
            <a:off x="758849" y="593358"/>
            <a:ext cx="2547091" cy="284395"/>
            <a:chOff x="304400" y="1038050"/>
            <a:chExt cx="5191788" cy="781949"/>
          </a:xfrm>
        </p:grpSpPr>
        <p:sp>
          <p:nvSpPr>
            <p:cNvPr id="224" name="Google Shape;224;p20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0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rgbClr val="140A1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HOW NEURAL NETWORKS WORKS?</a:t>
              </a:r>
              <a:endParaRPr b="1" i="0" sz="1000" u="none" cap="none" strike="noStrike">
                <a:solidFill>
                  <a:srgbClr val="140A1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26" name="Google Shape;226;p20"/>
          <p:cNvSpPr/>
          <p:nvPr/>
        </p:nvSpPr>
        <p:spPr>
          <a:xfrm>
            <a:off x="2445100" y="2138034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2445100" y="2982531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3713879" y="1796159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0"/>
          <p:cNvSpPr/>
          <p:nvPr/>
        </p:nvSpPr>
        <p:spPr>
          <a:xfrm>
            <a:off x="3713879" y="2640656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3713879" y="3485153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0"/>
          <p:cNvSpPr/>
          <p:nvPr/>
        </p:nvSpPr>
        <p:spPr>
          <a:xfrm>
            <a:off x="5062454" y="1402525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5062454" y="2247022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5062454" y="3091519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0"/>
          <p:cNvSpPr/>
          <p:nvPr/>
        </p:nvSpPr>
        <p:spPr>
          <a:xfrm>
            <a:off x="5062454" y="4034891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6411028" y="2138049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"/>
          <p:cNvSpPr/>
          <p:nvPr/>
        </p:nvSpPr>
        <p:spPr>
          <a:xfrm>
            <a:off x="6411028" y="2982546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7" name="Google Shape;237;p20"/>
          <p:cNvCxnSpPr>
            <a:stCxn id="226" idx="6"/>
            <a:endCxn id="228" idx="2"/>
          </p:cNvCxnSpPr>
          <p:nvPr/>
        </p:nvCxnSpPr>
        <p:spPr>
          <a:xfrm flipH="1" rot="10800000">
            <a:off x="2837200" y="1992834"/>
            <a:ext cx="876600" cy="34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0"/>
          <p:cNvCxnSpPr>
            <a:stCxn id="226" idx="6"/>
            <a:endCxn id="229" idx="2"/>
          </p:cNvCxnSpPr>
          <p:nvPr/>
        </p:nvCxnSpPr>
        <p:spPr>
          <a:xfrm>
            <a:off x="2837200" y="2334834"/>
            <a:ext cx="876600" cy="50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0"/>
          <p:cNvCxnSpPr>
            <a:stCxn id="227" idx="6"/>
            <a:endCxn id="229" idx="2"/>
          </p:cNvCxnSpPr>
          <p:nvPr/>
        </p:nvCxnSpPr>
        <p:spPr>
          <a:xfrm flipH="1" rot="10800000">
            <a:off x="2837200" y="2837331"/>
            <a:ext cx="876600" cy="34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20"/>
          <p:cNvCxnSpPr>
            <a:stCxn id="227" idx="6"/>
            <a:endCxn id="230" idx="2"/>
          </p:cNvCxnSpPr>
          <p:nvPr/>
        </p:nvCxnSpPr>
        <p:spPr>
          <a:xfrm>
            <a:off x="2837200" y="3179331"/>
            <a:ext cx="876600" cy="50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0"/>
          <p:cNvCxnSpPr>
            <a:stCxn id="227" idx="6"/>
            <a:endCxn id="228" idx="2"/>
          </p:cNvCxnSpPr>
          <p:nvPr/>
        </p:nvCxnSpPr>
        <p:spPr>
          <a:xfrm flipH="1" rot="10800000">
            <a:off x="2837200" y="1992831"/>
            <a:ext cx="876600" cy="118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20"/>
          <p:cNvCxnSpPr>
            <a:stCxn id="226" idx="6"/>
            <a:endCxn id="230" idx="2"/>
          </p:cNvCxnSpPr>
          <p:nvPr/>
        </p:nvCxnSpPr>
        <p:spPr>
          <a:xfrm>
            <a:off x="2837200" y="2334834"/>
            <a:ext cx="876600" cy="134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20"/>
          <p:cNvCxnSpPr>
            <a:stCxn id="228" idx="6"/>
            <a:endCxn id="231" idx="2"/>
          </p:cNvCxnSpPr>
          <p:nvPr/>
        </p:nvCxnSpPr>
        <p:spPr>
          <a:xfrm flipH="1" rot="10800000">
            <a:off x="4105979" y="1599359"/>
            <a:ext cx="9564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" name="Google Shape;244;p20"/>
          <p:cNvCxnSpPr>
            <a:stCxn id="228" idx="6"/>
            <a:endCxn id="232" idx="2"/>
          </p:cNvCxnSpPr>
          <p:nvPr/>
        </p:nvCxnSpPr>
        <p:spPr>
          <a:xfrm>
            <a:off x="4105979" y="1992959"/>
            <a:ext cx="956400" cy="45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5" name="Google Shape;245;p20"/>
          <p:cNvCxnSpPr>
            <a:stCxn id="228" idx="6"/>
            <a:endCxn id="233" idx="2"/>
          </p:cNvCxnSpPr>
          <p:nvPr/>
        </p:nvCxnSpPr>
        <p:spPr>
          <a:xfrm>
            <a:off x="4105979" y="1992959"/>
            <a:ext cx="956400" cy="129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6" name="Google Shape;246;p20"/>
          <p:cNvCxnSpPr>
            <a:stCxn id="228" idx="6"/>
            <a:endCxn id="234" idx="2"/>
          </p:cNvCxnSpPr>
          <p:nvPr/>
        </p:nvCxnSpPr>
        <p:spPr>
          <a:xfrm>
            <a:off x="4105979" y="1992959"/>
            <a:ext cx="956400" cy="223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" name="Google Shape;247;p20"/>
          <p:cNvCxnSpPr>
            <a:stCxn id="229" idx="6"/>
            <a:endCxn id="231" idx="2"/>
          </p:cNvCxnSpPr>
          <p:nvPr/>
        </p:nvCxnSpPr>
        <p:spPr>
          <a:xfrm flipH="1" rot="10800000">
            <a:off x="4105979" y="1599356"/>
            <a:ext cx="956400" cy="123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20"/>
          <p:cNvCxnSpPr>
            <a:stCxn id="229" idx="6"/>
            <a:endCxn id="232" idx="2"/>
          </p:cNvCxnSpPr>
          <p:nvPr/>
        </p:nvCxnSpPr>
        <p:spPr>
          <a:xfrm flipH="1" rot="10800000">
            <a:off x="4105979" y="2443856"/>
            <a:ext cx="9564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0"/>
          <p:cNvCxnSpPr>
            <a:stCxn id="229" idx="6"/>
            <a:endCxn id="233" idx="2"/>
          </p:cNvCxnSpPr>
          <p:nvPr/>
        </p:nvCxnSpPr>
        <p:spPr>
          <a:xfrm>
            <a:off x="4105979" y="2837456"/>
            <a:ext cx="956400" cy="45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20"/>
          <p:cNvCxnSpPr>
            <a:stCxn id="229" idx="6"/>
            <a:endCxn id="234" idx="2"/>
          </p:cNvCxnSpPr>
          <p:nvPr/>
        </p:nvCxnSpPr>
        <p:spPr>
          <a:xfrm>
            <a:off x="4105979" y="2837456"/>
            <a:ext cx="956400" cy="13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20"/>
          <p:cNvCxnSpPr>
            <a:stCxn id="230" idx="6"/>
            <a:endCxn id="231" idx="2"/>
          </p:cNvCxnSpPr>
          <p:nvPr/>
        </p:nvCxnSpPr>
        <p:spPr>
          <a:xfrm flipH="1" rot="10800000">
            <a:off x="4105979" y="1599353"/>
            <a:ext cx="956400" cy="208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0"/>
          <p:cNvCxnSpPr>
            <a:stCxn id="230" idx="6"/>
            <a:endCxn id="232" idx="2"/>
          </p:cNvCxnSpPr>
          <p:nvPr/>
        </p:nvCxnSpPr>
        <p:spPr>
          <a:xfrm flipH="1" rot="10800000">
            <a:off x="4105979" y="2443853"/>
            <a:ext cx="956400" cy="123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20"/>
          <p:cNvCxnSpPr>
            <a:stCxn id="230" idx="6"/>
            <a:endCxn id="233" idx="2"/>
          </p:cNvCxnSpPr>
          <p:nvPr/>
        </p:nvCxnSpPr>
        <p:spPr>
          <a:xfrm flipH="1" rot="10800000">
            <a:off x="4105979" y="3288353"/>
            <a:ext cx="9564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" name="Google Shape;254;p20"/>
          <p:cNvCxnSpPr>
            <a:stCxn id="230" idx="6"/>
            <a:endCxn id="234" idx="2"/>
          </p:cNvCxnSpPr>
          <p:nvPr/>
        </p:nvCxnSpPr>
        <p:spPr>
          <a:xfrm>
            <a:off x="4105979" y="3681953"/>
            <a:ext cx="956400" cy="54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20"/>
          <p:cNvCxnSpPr>
            <a:stCxn id="231" idx="6"/>
            <a:endCxn id="235" idx="2"/>
          </p:cNvCxnSpPr>
          <p:nvPr/>
        </p:nvCxnSpPr>
        <p:spPr>
          <a:xfrm>
            <a:off x="5454554" y="1599325"/>
            <a:ext cx="956400" cy="73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20"/>
          <p:cNvCxnSpPr>
            <a:stCxn id="231" idx="6"/>
            <a:endCxn id="236" idx="2"/>
          </p:cNvCxnSpPr>
          <p:nvPr/>
        </p:nvCxnSpPr>
        <p:spPr>
          <a:xfrm>
            <a:off x="5454554" y="1599325"/>
            <a:ext cx="956400" cy="158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20"/>
          <p:cNvCxnSpPr>
            <a:stCxn id="232" idx="6"/>
            <a:endCxn id="235" idx="2"/>
          </p:cNvCxnSpPr>
          <p:nvPr/>
        </p:nvCxnSpPr>
        <p:spPr>
          <a:xfrm flipH="1" rot="10800000">
            <a:off x="5454554" y="2334922"/>
            <a:ext cx="956400" cy="10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" name="Google Shape;258;p20"/>
          <p:cNvCxnSpPr>
            <a:stCxn id="232" idx="6"/>
            <a:endCxn id="236" idx="2"/>
          </p:cNvCxnSpPr>
          <p:nvPr/>
        </p:nvCxnSpPr>
        <p:spPr>
          <a:xfrm>
            <a:off x="5454554" y="2443822"/>
            <a:ext cx="956400" cy="73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9" name="Google Shape;259;p20"/>
          <p:cNvCxnSpPr>
            <a:stCxn id="233" idx="6"/>
            <a:endCxn id="235" idx="2"/>
          </p:cNvCxnSpPr>
          <p:nvPr/>
        </p:nvCxnSpPr>
        <p:spPr>
          <a:xfrm flipH="1" rot="10800000">
            <a:off x="5454554" y="2334919"/>
            <a:ext cx="956400" cy="95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0"/>
          <p:cNvCxnSpPr>
            <a:stCxn id="233" idx="6"/>
            <a:endCxn id="236" idx="2"/>
          </p:cNvCxnSpPr>
          <p:nvPr/>
        </p:nvCxnSpPr>
        <p:spPr>
          <a:xfrm flipH="1" rot="10800000">
            <a:off x="5454554" y="3179419"/>
            <a:ext cx="956400" cy="10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0"/>
          <p:cNvCxnSpPr>
            <a:stCxn id="234" idx="6"/>
            <a:endCxn id="236" idx="2"/>
          </p:cNvCxnSpPr>
          <p:nvPr/>
        </p:nvCxnSpPr>
        <p:spPr>
          <a:xfrm flipH="1" rot="10800000">
            <a:off x="5454554" y="3179291"/>
            <a:ext cx="956400" cy="105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0"/>
          <p:cNvCxnSpPr>
            <a:stCxn id="234" idx="6"/>
            <a:endCxn id="235" idx="2"/>
          </p:cNvCxnSpPr>
          <p:nvPr/>
        </p:nvCxnSpPr>
        <p:spPr>
          <a:xfrm flipH="1" rot="10800000">
            <a:off x="5454554" y="2334791"/>
            <a:ext cx="956400" cy="189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20"/>
          <p:cNvSpPr/>
          <p:nvPr/>
        </p:nvSpPr>
        <p:spPr>
          <a:xfrm>
            <a:off x="7299278" y="2531624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4" name="Google Shape;264;p20"/>
          <p:cNvCxnSpPr>
            <a:stCxn id="235" idx="6"/>
            <a:endCxn id="263" idx="2"/>
          </p:cNvCxnSpPr>
          <p:nvPr/>
        </p:nvCxnSpPr>
        <p:spPr>
          <a:xfrm>
            <a:off x="6803128" y="2334849"/>
            <a:ext cx="4962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0"/>
          <p:cNvCxnSpPr>
            <a:stCxn id="236" idx="6"/>
            <a:endCxn id="263" idx="2"/>
          </p:cNvCxnSpPr>
          <p:nvPr/>
        </p:nvCxnSpPr>
        <p:spPr>
          <a:xfrm flipH="1" rot="10800000">
            <a:off x="6803128" y="2728446"/>
            <a:ext cx="496200" cy="45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0"/>
          <p:cNvCxnSpPr/>
          <p:nvPr/>
        </p:nvCxnSpPr>
        <p:spPr>
          <a:xfrm flipH="1" rot="10800000">
            <a:off x="3559025" y="1179625"/>
            <a:ext cx="2877900" cy="10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" name="Google Shape;267;p20"/>
          <p:cNvSpPr txBox="1"/>
          <p:nvPr/>
        </p:nvSpPr>
        <p:spPr>
          <a:xfrm>
            <a:off x="3808100" y="815375"/>
            <a:ext cx="2693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Forward Propagation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268" name="Google Shape;26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000" y="1779979"/>
            <a:ext cx="1896884" cy="18969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p20"/>
          <p:cNvCxnSpPr>
            <a:stCxn id="263" idx="6"/>
          </p:cNvCxnSpPr>
          <p:nvPr/>
        </p:nvCxnSpPr>
        <p:spPr>
          <a:xfrm flipH="1" rot="10800000">
            <a:off x="7691378" y="2717024"/>
            <a:ext cx="445800" cy="1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0" name="Google Shape;270;p20"/>
          <p:cNvSpPr txBox="1"/>
          <p:nvPr/>
        </p:nvSpPr>
        <p:spPr>
          <a:xfrm>
            <a:off x="8081950" y="2487250"/>
            <a:ext cx="95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GOAT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NETWORKS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276" name="Google Shape;276;p21"/>
          <p:cNvGrpSpPr/>
          <p:nvPr/>
        </p:nvGrpSpPr>
        <p:grpSpPr>
          <a:xfrm>
            <a:off x="758849" y="593358"/>
            <a:ext cx="2547091" cy="284395"/>
            <a:chOff x="304400" y="1038050"/>
            <a:chExt cx="5191788" cy="781949"/>
          </a:xfrm>
        </p:grpSpPr>
        <p:sp>
          <p:nvSpPr>
            <p:cNvPr id="277" name="Google Shape;277;p21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rgbClr val="140A1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HOW NEURAL NETWORKS WORKS?</a:t>
              </a:r>
              <a:endParaRPr b="1" i="0" sz="1000" u="none" cap="none" strike="noStrike">
                <a:solidFill>
                  <a:srgbClr val="140A1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279" name="Google Shape;279;p21"/>
          <p:cNvSpPr/>
          <p:nvPr/>
        </p:nvSpPr>
        <p:spPr>
          <a:xfrm>
            <a:off x="2445100" y="2138034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2445100" y="2982531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"/>
          <p:cNvSpPr/>
          <p:nvPr/>
        </p:nvSpPr>
        <p:spPr>
          <a:xfrm>
            <a:off x="3713879" y="1796159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3713879" y="2640656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1"/>
          <p:cNvSpPr/>
          <p:nvPr/>
        </p:nvSpPr>
        <p:spPr>
          <a:xfrm>
            <a:off x="3713879" y="3485153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5062454" y="1402525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1"/>
          <p:cNvSpPr/>
          <p:nvPr/>
        </p:nvSpPr>
        <p:spPr>
          <a:xfrm>
            <a:off x="5062454" y="2247022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1"/>
          <p:cNvSpPr/>
          <p:nvPr/>
        </p:nvSpPr>
        <p:spPr>
          <a:xfrm>
            <a:off x="5062454" y="3091519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1"/>
          <p:cNvSpPr/>
          <p:nvPr/>
        </p:nvSpPr>
        <p:spPr>
          <a:xfrm>
            <a:off x="5062454" y="4034891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1"/>
          <p:cNvSpPr/>
          <p:nvPr/>
        </p:nvSpPr>
        <p:spPr>
          <a:xfrm>
            <a:off x="6411028" y="2138049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1"/>
          <p:cNvSpPr/>
          <p:nvPr/>
        </p:nvSpPr>
        <p:spPr>
          <a:xfrm>
            <a:off x="6411028" y="2982546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0" name="Google Shape;290;p21"/>
          <p:cNvCxnSpPr>
            <a:stCxn id="279" idx="6"/>
            <a:endCxn id="281" idx="2"/>
          </p:cNvCxnSpPr>
          <p:nvPr/>
        </p:nvCxnSpPr>
        <p:spPr>
          <a:xfrm flipH="1" rot="10800000">
            <a:off x="2837200" y="1992834"/>
            <a:ext cx="876600" cy="34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21"/>
          <p:cNvCxnSpPr>
            <a:stCxn id="279" idx="6"/>
            <a:endCxn id="282" idx="2"/>
          </p:cNvCxnSpPr>
          <p:nvPr/>
        </p:nvCxnSpPr>
        <p:spPr>
          <a:xfrm>
            <a:off x="2837200" y="2334834"/>
            <a:ext cx="876600" cy="50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21"/>
          <p:cNvCxnSpPr>
            <a:stCxn id="280" idx="6"/>
            <a:endCxn id="282" idx="2"/>
          </p:cNvCxnSpPr>
          <p:nvPr/>
        </p:nvCxnSpPr>
        <p:spPr>
          <a:xfrm flipH="1" rot="10800000">
            <a:off x="2837200" y="2837331"/>
            <a:ext cx="876600" cy="34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21"/>
          <p:cNvCxnSpPr>
            <a:stCxn id="280" idx="6"/>
            <a:endCxn id="283" idx="2"/>
          </p:cNvCxnSpPr>
          <p:nvPr/>
        </p:nvCxnSpPr>
        <p:spPr>
          <a:xfrm>
            <a:off x="2837200" y="3179331"/>
            <a:ext cx="876600" cy="50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21"/>
          <p:cNvCxnSpPr>
            <a:stCxn id="280" idx="6"/>
            <a:endCxn id="281" idx="2"/>
          </p:cNvCxnSpPr>
          <p:nvPr/>
        </p:nvCxnSpPr>
        <p:spPr>
          <a:xfrm flipH="1" rot="10800000">
            <a:off x="2837200" y="1992831"/>
            <a:ext cx="876600" cy="118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21"/>
          <p:cNvCxnSpPr>
            <a:stCxn id="279" idx="6"/>
            <a:endCxn id="283" idx="2"/>
          </p:cNvCxnSpPr>
          <p:nvPr/>
        </p:nvCxnSpPr>
        <p:spPr>
          <a:xfrm>
            <a:off x="2837200" y="2334834"/>
            <a:ext cx="876600" cy="134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21"/>
          <p:cNvCxnSpPr>
            <a:stCxn id="281" idx="6"/>
            <a:endCxn id="284" idx="2"/>
          </p:cNvCxnSpPr>
          <p:nvPr/>
        </p:nvCxnSpPr>
        <p:spPr>
          <a:xfrm flipH="1" rot="10800000">
            <a:off x="4105979" y="1599359"/>
            <a:ext cx="9564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21"/>
          <p:cNvCxnSpPr>
            <a:stCxn id="281" idx="6"/>
            <a:endCxn id="285" idx="2"/>
          </p:cNvCxnSpPr>
          <p:nvPr/>
        </p:nvCxnSpPr>
        <p:spPr>
          <a:xfrm>
            <a:off x="4105979" y="1992959"/>
            <a:ext cx="956400" cy="45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21"/>
          <p:cNvCxnSpPr>
            <a:stCxn id="281" idx="6"/>
            <a:endCxn id="286" idx="2"/>
          </p:cNvCxnSpPr>
          <p:nvPr/>
        </p:nvCxnSpPr>
        <p:spPr>
          <a:xfrm>
            <a:off x="4105979" y="1992959"/>
            <a:ext cx="956400" cy="129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21"/>
          <p:cNvCxnSpPr>
            <a:stCxn id="281" idx="6"/>
            <a:endCxn id="287" idx="2"/>
          </p:cNvCxnSpPr>
          <p:nvPr/>
        </p:nvCxnSpPr>
        <p:spPr>
          <a:xfrm>
            <a:off x="4105979" y="1992959"/>
            <a:ext cx="956400" cy="223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21"/>
          <p:cNvCxnSpPr>
            <a:stCxn id="282" idx="6"/>
            <a:endCxn id="284" idx="2"/>
          </p:cNvCxnSpPr>
          <p:nvPr/>
        </p:nvCxnSpPr>
        <p:spPr>
          <a:xfrm flipH="1" rot="10800000">
            <a:off x="4105979" y="1599356"/>
            <a:ext cx="956400" cy="123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21"/>
          <p:cNvCxnSpPr>
            <a:stCxn id="282" idx="6"/>
            <a:endCxn id="285" idx="2"/>
          </p:cNvCxnSpPr>
          <p:nvPr/>
        </p:nvCxnSpPr>
        <p:spPr>
          <a:xfrm flipH="1" rot="10800000">
            <a:off x="4105979" y="2443856"/>
            <a:ext cx="9564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" name="Google Shape;302;p21"/>
          <p:cNvCxnSpPr>
            <a:stCxn id="282" idx="6"/>
            <a:endCxn id="286" idx="2"/>
          </p:cNvCxnSpPr>
          <p:nvPr/>
        </p:nvCxnSpPr>
        <p:spPr>
          <a:xfrm>
            <a:off x="4105979" y="2837456"/>
            <a:ext cx="956400" cy="45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" name="Google Shape;303;p21"/>
          <p:cNvCxnSpPr>
            <a:stCxn id="282" idx="6"/>
            <a:endCxn id="287" idx="2"/>
          </p:cNvCxnSpPr>
          <p:nvPr/>
        </p:nvCxnSpPr>
        <p:spPr>
          <a:xfrm>
            <a:off x="4105979" y="2837456"/>
            <a:ext cx="956400" cy="13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" name="Google Shape;304;p21"/>
          <p:cNvCxnSpPr>
            <a:stCxn id="283" idx="6"/>
            <a:endCxn id="284" idx="2"/>
          </p:cNvCxnSpPr>
          <p:nvPr/>
        </p:nvCxnSpPr>
        <p:spPr>
          <a:xfrm flipH="1" rot="10800000">
            <a:off x="4105979" y="1599353"/>
            <a:ext cx="956400" cy="208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" name="Google Shape;305;p21"/>
          <p:cNvCxnSpPr>
            <a:stCxn id="283" idx="6"/>
            <a:endCxn id="285" idx="2"/>
          </p:cNvCxnSpPr>
          <p:nvPr/>
        </p:nvCxnSpPr>
        <p:spPr>
          <a:xfrm flipH="1" rot="10800000">
            <a:off x="4105979" y="2443853"/>
            <a:ext cx="956400" cy="123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21"/>
          <p:cNvCxnSpPr>
            <a:stCxn id="283" idx="6"/>
            <a:endCxn id="286" idx="2"/>
          </p:cNvCxnSpPr>
          <p:nvPr/>
        </p:nvCxnSpPr>
        <p:spPr>
          <a:xfrm flipH="1" rot="10800000">
            <a:off x="4105979" y="3288353"/>
            <a:ext cx="9564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" name="Google Shape;307;p21"/>
          <p:cNvCxnSpPr>
            <a:stCxn id="283" idx="6"/>
            <a:endCxn id="287" idx="2"/>
          </p:cNvCxnSpPr>
          <p:nvPr/>
        </p:nvCxnSpPr>
        <p:spPr>
          <a:xfrm>
            <a:off x="4105979" y="3681953"/>
            <a:ext cx="956400" cy="54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21"/>
          <p:cNvCxnSpPr>
            <a:stCxn id="284" idx="6"/>
            <a:endCxn id="288" idx="2"/>
          </p:cNvCxnSpPr>
          <p:nvPr/>
        </p:nvCxnSpPr>
        <p:spPr>
          <a:xfrm>
            <a:off x="5454554" y="1599325"/>
            <a:ext cx="956400" cy="73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21"/>
          <p:cNvCxnSpPr>
            <a:stCxn id="284" idx="6"/>
            <a:endCxn id="289" idx="2"/>
          </p:cNvCxnSpPr>
          <p:nvPr/>
        </p:nvCxnSpPr>
        <p:spPr>
          <a:xfrm>
            <a:off x="5454554" y="1599325"/>
            <a:ext cx="956400" cy="158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0" name="Google Shape;310;p21"/>
          <p:cNvCxnSpPr>
            <a:stCxn id="285" idx="6"/>
            <a:endCxn id="288" idx="2"/>
          </p:cNvCxnSpPr>
          <p:nvPr/>
        </p:nvCxnSpPr>
        <p:spPr>
          <a:xfrm flipH="1" rot="10800000">
            <a:off x="5454554" y="2334922"/>
            <a:ext cx="956400" cy="10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1" name="Google Shape;311;p21"/>
          <p:cNvCxnSpPr>
            <a:stCxn id="285" idx="6"/>
            <a:endCxn id="289" idx="2"/>
          </p:cNvCxnSpPr>
          <p:nvPr/>
        </p:nvCxnSpPr>
        <p:spPr>
          <a:xfrm>
            <a:off x="5454554" y="2443822"/>
            <a:ext cx="956400" cy="73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21"/>
          <p:cNvCxnSpPr>
            <a:stCxn id="286" idx="6"/>
            <a:endCxn id="288" idx="2"/>
          </p:cNvCxnSpPr>
          <p:nvPr/>
        </p:nvCxnSpPr>
        <p:spPr>
          <a:xfrm flipH="1" rot="10800000">
            <a:off x="5454554" y="2334919"/>
            <a:ext cx="956400" cy="95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21"/>
          <p:cNvCxnSpPr>
            <a:stCxn id="286" idx="6"/>
            <a:endCxn id="289" idx="2"/>
          </p:cNvCxnSpPr>
          <p:nvPr/>
        </p:nvCxnSpPr>
        <p:spPr>
          <a:xfrm flipH="1" rot="10800000">
            <a:off x="5454554" y="3179419"/>
            <a:ext cx="956400" cy="10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21"/>
          <p:cNvCxnSpPr>
            <a:stCxn id="287" idx="6"/>
            <a:endCxn id="289" idx="2"/>
          </p:cNvCxnSpPr>
          <p:nvPr/>
        </p:nvCxnSpPr>
        <p:spPr>
          <a:xfrm flipH="1" rot="10800000">
            <a:off x="5454554" y="3179291"/>
            <a:ext cx="956400" cy="105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21"/>
          <p:cNvCxnSpPr>
            <a:stCxn id="287" idx="6"/>
            <a:endCxn id="288" idx="2"/>
          </p:cNvCxnSpPr>
          <p:nvPr/>
        </p:nvCxnSpPr>
        <p:spPr>
          <a:xfrm flipH="1" rot="10800000">
            <a:off x="5454554" y="2334791"/>
            <a:ext cx="956400" cy="189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6" name="Google Shape;316;p21"/>
          <p:cNvSpPr/>
          <p:nvPr/>
        </p:nvSpPr>
        <p:spPr>
          <a:xfrm>
            <a:off x="7299278" y="2531624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7" name="Google Shape;317;p21"/>
          <p:cNvCxnSpPr>
            <a:stCxn id="288" idx="6"/>
            <a:endCxn id="316" idx="2"/>
          </p:cNvCxnSpPr>
          <p:nvPr/>
        </p:nvCxnSpPr>
        <p:spPr>
          <a:xfrm>
            <a:off x="6803128" y="2334849"/>
            <a:ext cx="4962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8" name="Google Shape;318;p21"/>
          <p:cNvCxnSpPr>
            <a:stCxn id="289" idx="6"/>
            <a:endCxn id="316" idx="2"/>
          </p:cNvCxnSpPr>
          <p:nvPr/>
        </p:nvCxnSpPr>
        <p:spPr>
          <a:xfrm flipH="1" rot="10800000">
            <a:off x="6803128" y="2728446"/>
            <a:ext cx="496200" cy="45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21"/>
          <p:cNvCxnSpPr/>
          <p:nvPr/>
        </p:nvCxnSpPr>
        <p:spPr>
          <a:xfrm flipH="1" rot="10800000">
            <a:off x="3533050" y="4509625"/>
            <a:ext cx="2877900" cy="10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20" name="Google Shape;320;p21"/>
          <p:cNvSpPr txBox="1"/>
          <p:nvPr/>
        </p:nvSpPr>
        <p:spPr>
          <a:xfrm>
            <a:off x="3866200" y="4433425"/>
            <a:ext cx="2693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Backward Propagation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321" name="Google Shape;3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000" y="1779979"/>
            <a:ext cx="1896884" cy="1896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2" name="Google Shape;322;p21"/>
          <p:cNvCxnSpPr>
            <a:stCxn id="316" idx="6"/>
          </p:cNvCxnSpPr>
          <p:nvPr/>
        </p:nvCxnSpPr>
        <p:spPr>
          <a:xfrm flipH="1" rot="10800000">
            <a:off x="7691378" y="2717024"/>
            <a:ext cx="445800" cy="1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23" name="Google Shape;323;p21"/>
          <p:cNvSpPr txBox="1"/>
          <p:nvPr/>
        </p:nvSpPr>
        <p:spPr>
          <a:xfrm>
            <a:off x="8081950" y="2487250"/>
            <a:ext cx="95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DOG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2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NETWORKS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329" name="Google Shape;329;p22"/>
          <p:cNvGrpSpPr/>
          <p:nvPr/>
        </p:nvGrpSpPr>
        <p:grpSpPr>
          <a:xfrm>
            <a:off x="758849" y="593358"/>
            <a:ext cx="2547091" cy="284395"/>
            <a:chOff x="304400" y="1038050"/>
            <a:chExt cx="5191788" cy="781949"/>
          </a:xfrm>
        </p:grpSpPr>
        <p:sp>
          <p:nvSpPr>
            <p:cNvPr id="330" name="Google Shape;330;p22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2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rgbClr val="140A1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HOW NEURAL NETWORKS WORKS?</a:t>
              </a:r>
              <a:endParaRPr b="1" i="0" sz="1000" u="none" cap="none" strike="noStrike">
                <a:solidFill>
                  <a:srgbClr val="140A1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332" name="Google Shape;332;p22"/>
          <p:cNvSpPr/>
          <p:nvPr/>
        </p:nvSpPr>
        <p:spPr>
          <a:xfrm>
            <a:off x="2445100" y="2138034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2"/>
          <p:cNvSpPr/>
          <p:nvPr/>
        </p:nvSpPr>
        <p:spPr>
          <a:xfrm>
            <a:off x="2445100" y="2982531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2"/>
          <p:cNvSpPr/>
          <p:nvPr/>
        </p:nvSpPr>
        <p:spPr>
          <a:xfrm>
            <a:off x="3713879" y="1796159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2"/>
          <p:cNvSpPr/>
          <p:nvPr/>
        </p:nvSpPr>
        <p:spPr>
          <a:xfrm>
            <a:off x="3713879" y="2640656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2"/>
          <p:cNvSpPr/>
          <p:nvPr/>
        </p:nvSpPr>
        <p:spPr>
          <a:xfrm>
            <a:off x="3713879" y="3485153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2"/>
          <p:cNvSpPr/>
          <p:nvPr/>
        </p:nvSpPr>
        <p:spPr>
          <a:xfrm>
            <a:off x="5062454" y="1402525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2"/>
          <p:cNvSpPr/>
          <p:nvPr/>
        </p:nvSpPr>
        <p:spPr>
          <a:xfrm>
            <a:off x="5062454" y="2247022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2"/>
          <p:cNvSpPr/>
          <p:nvPr/>
        </p:nvSpPr>
        <p:spPr>
          <a:xfrm>
            <a:off x="5062454" y="3091519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2"/>
          <p:cNvSpPr/>
          <p:nvPr/>
        </p:nvSpPr>
        <p:spPr>
          <a:xfrm>
            <a:off x="5062454" y="4034891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2"/>
          <p:cNvSpPr/>
          <p:nvPr/>
        </p:nvSpPr>
        <p:spPr>
          <a:xfrm>
            <a:off x="6411028" y="2138049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2"/>
          <p:cNvSpPr/>
          <p:nvPr/>
        </p:nvSpPr>
        <p:spPr>
          <a:xfrm>
            <a:off x="6411028" y="2982546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3" name="Google Shape;343;p22"/>
          <p:cNvCxnSpPr>
            <a:stCxn id="332" idx="6"/>
            <a:endCxn id="334" idx="2"/>
          </p:cNvCxnSpPr>
          <p:nvPr/>
        </p:nvCxnSpPr>
        <p:spPr>
          <a:xfrm flipH="1" rot="10800000">
            <a:off x="2837200" y="1992834"/>
            <a:ext cx="876600" cy="34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" name="Google Shape;344;p22"/>
          <p:cNvCxnSpPr>
            <a:stCxn id="332" idx="6"/>
            <a:endCxn id="335" idx="2"/>
          </p:cNvCxnSpPr>
          <p:nvPr/>
        </p:nvCxnSpPr>
        <p:spPr>
          <a:xfrm>
            <a:off x="2837200" y="2334834"/>
            <a:ext cx="876600" cy="50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22"/>
          <p:cNvCxnSpPr>
            <a:stCxn id="333" idx="6"/>
            <a:endCxn id="335" idx="2"/>
          </p:cNvCxnSpPr>
          <p:nvPr/>
        </p:nvCxnSpPr>
        <p:spPr>
          <a:xfrm flipH="1" rot="10800000">
            <a:off x="2837200" y="2837331"/>
            <a:ext cx="876600" cy="34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22"/>
          <p:cNvCxnSpPr>
            <a:stCxn id="333" idx="6"/>
            <a:endCxn id="336" idx="2"/>
          </p:cNvCxnSpPr>
          <p:nvPr/>
        </p:nvCxnSpPr>
        <p:spPr>
          <a:xfrm>
            <a:off x="2837200" y="3179331"/>
            <a:ext cx="876600" cy="50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7" name="Google Shape;347;p22"/>
          <p:cNvCxnSpPr>
            <a:stCxn id="333" idx="6"/>
            <a:endCxn id="334" idx="2"/>
          </p:cNvCxnSpPr>
          <p:nvPr/>
        </p:nvCxnSpPr>
        <p:spPr>
          <a:xfrm flipH="1" rot="10800000">
            <a:off x="2837200" y="1992831"/>
            <a:ext cx="876600" cy="118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22"/>
          <p:cNvCxnSpPr>
            <a:stCxn id="332" idx="6"/>
            <a:endCxn id="336" idx="2"/>
          </p:cNvCxnSpPr>
          <p:nvPr/>
        </p:nvCxnSpPr>
        <p:spPr>
          <a:xfrm>
            <a:off x="2837200" y="2334834"/>
            <a:ext cx="876600" cy="134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22"/>
          <p:cNvCxnSpPr>
            <a:stCxn id="334" idx="6"/>
            <a:endCxn id="337" idx="2"/>
          </p:cNvCxnSpPr>
          <p:nvPr/>
        </p:nvCxnSpPr>
        <p:spPr>
          <a:xfrm flipH="1" rot="10800000">
            <a:off x="4105979" y="1599359"/>
            <a:ext cx="9564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22"/>
          <p:cNvCxnSpPr>
            <a:stCxn id="334" idx="6"/>
            <a:endCxn id="338" idx="2"/>
          </p:cNvCxnSpPr>
          <p:nvPr/>
        </p:nvCxnSpPr>
        <p:spPr>
          <a:xfrm>
            <a:off x="4105979" y="1992959"/>
            <a:ext cx="956400" cy="45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22"/>
          <p:cNvCxnSpPr>
            <a:stCxn id="334" idx="6"/>
            <a:endCxn id="339" idx="2"/>
          </p:cNvCxnSpPr>
          <p:nvPr/>
        </p:nvCxnSpPr>
        <p:spPr>
          <a:xfrm>
            <a:off x="4105979" y="1992959"/>
            <a:ext cx="956400" cy="129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22"/>
          <p:cNvCxnSpPr>
            <a:stCxn id="334" idx="6"/>
            <a:endCxn id="340" idx="2"/>
          </p:cNvCxnSpPr>
          <p:nvPr/>
        </p:nvCxnSpPr>
        <p:spPr>
          <a:xfrm>
            <a:off x="4105979" y="1992959"/>
            <a:ext cx="956400" cy="223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22"/>
          <p:cNvCxnSpPr>
            <a:stCxn id="335" idx="6"/>
            <a:endCxn id="337" idx="2"/>
          </p:cNvCxnSpPr>
          <p:nvPr/>
        </p:nvCxnSpPr>
        <p:spPr>
          <a:xfrm flipH="1" rot="10800000">
            <a:off x="4105979" y="1599356"/>
            <a:ext cx="956400" cy="123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22"/>
          <p:cNvCxnSpPr>
            <a:stCxn id="335" idx="6"/>
            <a:endCxn id="338" idx="2"/>
          </p:cNvCxnSpPr>
          <p:nvPr/>
        </p:nvCxnSpPr>
        <p:spPr>
          <a:xfrm flipH="1" rot="10800000">
            <a:off x="4105979" y="2443856"/>
            <a:ext cx="9564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22"/>
          <p:cNvCxnSpPr>
            <a:stCxn id="335" idx="6"/>
            <a:endCxn id="339" idx="2"/>
          </p:cNvCxnSpPr>
          <p:nvPr/>
        </p:nvCxnSpPr>
        <p:spPr>
          <a:xfrm>
            <a:off x="4105979" y="2837456"/>
            <a:ext cx="956400" cy="45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22"/>
          <p:cNvCxnSpPr>
            <a:stCxn id="335" idx="6"/>
            <a:endCxn id="340" idx="2"/>
          </p:cNvCxnSpPr>
          <p:nvPr/>
        </p:nvCxnSpPr>
        <p:spPr>
          <a:xfrm>
            <a:off x="4105979" y="2837456"/>
            <a:ext cx="956400" cy="13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22"/>
          <p:cNvCxnSpPr>
            <a:stCxn id="336" idx="6"/>
            <a:endCxn id="337" idx="2"/>
          </p:cNvCxnSpPr>
          <p:nvPr/>
        </p:nvCxnSpPr>
        <p:spPr>
          <a:xfrm flipH="1" rot="10800000">
            <a:off x="4105979" y="1599353"/>
            <a:ext cx="956400" cy="208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22"/>
          <p:cNvCxnSpPr>
            <a:stCxn id="336" idx="6"/>
            <a:endCxn id="338" idx="2"/>
          </p:cNvCxnSpPr>
          <p:nvPr/>
        </p:nvCxnSpPr>
        <p:spPr>
          <a:xfrm flipH="1" rot="10800000">
            <a:off x="4105979" y="2443853"/>
            <a:ext cx="956400" cy="123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22"/>
          <p:cNvCxnSpPr>
            <a:stCxn id="336" idx="6"/>
            <a:endCxn id="339" idx="2"/>
          </p:cNvCxnSpPr>
          <p:nvPr/>
        </p:nvCxnSpPr>
        <p:spPr>
          <a:xfrm flipH="1" rot="10800000">
            <a:off x="4105979" y="3288353"/>
            <a:ext cx="9564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22"/>
          <p:cNvCxnSpPr>
            <a:stCxn id="336" idx="6"/>
            <a:endCxn id="340" idx="2"/>
          </p:cNvCxnSpPr>
          <p:nvPr/>
        </p:nvCxnSpPr>
        <p:spPr>
          <a:xfrm>
            <a:off x="4105979" y="3681953"/>
            <a:ext cx="956400" cy="54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22"/>
          <p:cNvCxnSpPr>
            <a:stCxn id="337" idx="6"/>
            <a:endCxn id="341" idx="2"/>
          </p:cNvCxnSpPr>
          <p:nvPr/>
        </p:nvCxnSpPr>
        <p:spPr>
          <a:xfrm>
            <a:off x="5454554" y="1599325"/>
            <a:ext cx="956400" cy="73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22"/>
          <p:cNvCxnSpPr>
            <a:stCxn id="337" idx="6"/>
            <a:endCxn id="342" idx="2"/>
          </p:cNvCxnSpPr>
          <p:nvPr/>
        </p:nvCxnSpPr>
        <p:spPr>
          <a:xfrm>
            <a:off x="5454554" y="1599325"/>
            <a:ext cx="956400" cy="158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22"/>
          <p:cNvCxnSpPr>
            <a:stCxn id="338" idx="6"/>
            <a:endCxn id="341" idx="2"/>
          </p:cNvCxnSpPr>
          <p:nvPr/>
        </p:nvCxnSpPr>
        <p:spPr>
          <a:xfrm flipH="1" rot="10800000">
            <a:off x="5454554" y="2334922"/>
            <a:ext cx="956400" cy="10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22"/>
          <p:cNvCxnSpPr>
            <a:stCxn id="338" idx="6"/>
            <a:endCxn id="342" idx="2"/>
          </p:cNvCxnSpPr>
          <p:nvPr/>
        </p:nvCxnSpPr>
        <p:spPr>
          <a:xfrm>
            <a:off x="5454554" y="2443822"/>
            <a:ext cx="956400" cy="73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22"/>
          <p:cNvCxnSpPr>
            <a:stCxn id="339" idx="6"/>
            <a:endCxn id="341" idx="2"/>
          </p:cNvCxnSpPr>
          <p:nvPr/>
        </p:nvCxnSpPr>
        <p:spPr>
          <a:xfrm flipH="1" rot="10800000">
            <a:off x="5454554" y="2334919"/>
            <a:ext cx="956400" cy="95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22"/>
          <p:cNvCxnSpPr>
            <a:stCxn id="339" idx="6"/>
            <a:endCxn id="342" idx="2"/>
          </p:cNvCxnSpPr>
          <p:nvPr/>
        </p:nvCxnSpPr>
        <p:spPr>
          <a:xfrm flipH="1" rot="10800000">
            <a:off x="5454554" y="3179419"/>
            <a:ext cx="956400" cy="10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22"/>
          <p:cNvCxnSpPr>
            <a:stCxn id="340" idx="6"/>
            <a:endCxn id="342" idx="2"/>
          </p:cNvCxnSpPr>
          <p:nvPr/>
        </p:nvCxnSpPr>
        <p:spPr>
          <a:xfrm flipH="1" rot="10800000">
            <a:off x="5454554" y="3179291"/>
            <a:ext cx="956400" cy="105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22"/>
          <p:cNvCxnSpPr>
            <a:stCxn id="340" idx="6"/>
            <a:endCxn id="341" idx="2"/>
          </p:cNvCxnSpPr>
          <p:nvPr/>
        </p:nvCxnSpPr>
        <p:spPr>
          <a:xfrm flipH="1" rot="10800000">
            <a:off x="5454554" y="2334791"/>
            <a:ext cx="956400" cy="189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9" name="Google Shape;369;p22"/>
          <p:cNvSpPr/>
          <p:nvPr/>
        </p:nvSpPr>
        <p:spPr>
          <a:xfrm>
            <a:off x="7299278" y="2531624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0" name="Google Shape;370;p22"/>
          <p:cNvCxnSpPr>
            <a:stCxn id="341" idx="6"/>
            <a:endCxn id="369" idx="2"/>
          </p:cNvCxnSpPr>
          <p:nvPr/>
        </p:nvCxnSpPr>
        <p:spPr>
          <a:xfrm>
            <a:off x="6803128" y="2334849"/>
            <a:ext cx="4962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" name="Google Shape;371;p22"/>
          <p:cNvCxnSpPr>
            <a:stCxn id="342" idx="6"/>
            <a:endCxn id="369" idx="2"/>
          </p:cNvCxnSpPr>
          <p:nvPr/>
        </p:nvCxnSpPr>
        <p:spPr>
          <a:xfrm flipH="1" rot="10800000">
            <a:off x="6803128" y="2728446"/>
            <a:ext cx="496200" cy="45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72" name="Google Shape;37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000" y="1779979"/>
            <a:ext cx="1896884" cy="1896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3" name="Google Shape;373;p22"/>
          <p:cNvCxnSpPr>
            <a:stCxn id="369" idx="6"/>
          </p:cNvCxnSpPr>
          <p:nvPr/>
        </p:nvCxnSpPr>
        <p:spPr>
          <a:xfrm flipH="1" rot="10800000">
            <a:off x="7691378" y="2717024"/>
            <a:ext cx="445800" cy="1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4" name="Google Shape;374;p22"/>
          <p:cNvSpPr txBox="1"/>
          <p:nvPr/>
        </p:nvSpPr>
        <p:spPr>
          <a:xfrm>
            <a:off x="8081950" y="2487250"/>
            <a:ext cx="95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DOG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375" name="Google Shape;375;p22"/>
          <p:cNvSpPr txBox="1"/>
          <p:nvPr/>
        </p:nvSpPr>
        <p:spPr>
          <a:xfrm>
            <a:off x="3027438" y="1836088"/>
            <a:ext cx="49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0.5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2949313" y="3342038"/>
            <a:ext cx="49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0.8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7" name="Google Shape;377;p22"/>
          <p:cNvSpPr txBox="1"/>
          <p:nvPr/>
        </p:nvSpPr>
        <p:spPr>
          <a:xfrm>
            <a:off x="3027425" y="2951138"/>
            <a:ext cx="49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0.1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8" name="Google Shape;378;p22"/>
          <p:cNvSpPr txBox="1"/>
          <p:nvPr/>
        </p:nvSpPr>
        <p:spPr>
          <a:xfrm>
            <a:off x="4255238" y="1406863"/>
            <a:ext cx="49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0.9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79" name="Google Shape;379;p22"/>
          <p:cNvSpPr txBox="1"/>
          <p:nvPr/>
        </p:nvSpPr>
        <p:spPr>
          <a:xfrm>
            <a:off x="5841513" y="1595763"/>
            <a:ext cx="49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0.7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80" name="Google Shape;380;p22"/>
          <p:cNvSpPr txBox="1"/>
          <p:nvPr/>
        </p:nvSpPr>
        <p:spPr>
          <a:xfrm>
            <a:off x="4495800" y="234375"/>
            <a:ext cx="95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</a:rPr>
              <a:t>Weights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4487300" y="627725"/>
            <a:ext cx="460900" cy="819375"/>
          </a:xfrm>
          <a:custGeom>
            <a:rect b="b" l="l" r="r" t="t"/>
            <a:pathLst>
              <a:path extrusionOk="0" h="32775" w="18436">
                <a:moveTo>
                  <a:pt x="18436" y="0"/>
                </a:moveTo>
                <a:cubicBezTo>
                  <a:pt x="5901" y="0"/>
                  <a:pt x="0" y="20240"/>
                  <a:pt x="0" y="32775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382" name="Google Shape;382;p22"/>
          <p:cNvSpPr/>
          <p:nvPr/>
        </p:nvSpPr>
        <p:spPr>
          <a:xfrm>
            <a:off x="3381175" y="627725"/>
            <a:ext cx="1587500" cy="1198325"/>
          </a:xfrm>
          <a:custGeom>
            <a:rect b="b" l="l" r="r" t="t"/>
            <a:pathLst>
              <a:path extrusionOk="0" h="47933" w="63500">
                <a:moveTo>
                  <a:pt x="63500" y="0"/>
                </a:moveTo>
                <a:cubicBezTo>
                  <a:pt x="36980" y="0"/>
                  <a:pt x="11860" y="24213"/>
                  <a:pt x="0" y="47933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sp>
      <p:sp>
        <p:nvSpPr>
          <p:cNvPr id="383" name="Google Shape;383;p22"/>
          <p:cNvSpPr/>
          <p:nvPr/>
        </p:nvSpPr>
        <p:spPr>
          <a:xfrm>
            <a:off x="4968675" y="627725"/>
            <a:ext cx="876609" cy="839850"/>
          </a:xfrm>
          <a:custGeom>
            <a:rect b="b" l="l" r="r" t="t"/>
            <a:pathLst>
              <a:path extrusionOk="0" h="33594" w="29087">
                <a:moveTo>
                  <a:pt x="0" y="0"/>
                </a:moveTo>
                <a:cubicBezTo>
                  <a:pt x="13751" y="5506"/>
                  <a:pt x="22456" y="20349"/>
                  <a:pt x="29087" y="33594"/>
                </a:cubicBezTo>
              </a:path>
            </a:pathLst>
          </a:cu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sp>
      <p:cxnSp>
        <p:nvCxnSpPr>
          <p:cNvPr id="384" name="Google Shape;384;p22"/>
          <p:cNvCxnSpPr/>
          <p:nvPr/>
        </p:nvCxnSpPr>
        <p:spPr>
          <a:xfrm flipH="1" rot="10800000">
            <a:off x="3533050" y="4509625"/>
            <a:ext cx="2877900" cy="10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85" name="Google Shape;385;p22"/>
          <p:cNvSpPr txBox="1"/>
          <p:nvPr/>
        </p:nvSpPr>
        <p:spPr>
          <a:xfrm>
            <a:off x="3866200" y="4433425"/>
            <a:ext cx="26937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Backward Propagation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NETWORKS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391" name="Google Shape;391;p23"/>
          <p:cNvGrpSpPr/>
          <p:nvPr/>
        </p:nvGrpSpPr>
        <p:grpSpPr>
          <a:xfrm>
            <a:off x="758849" y="593358"/>
            <a:ext cx="2547091" cy="284395"/>
            <a:chOff x="304400" y="1038050"/>
            <a:chExt cx="5191788" cy="781949"/>
          </a:xfrm>
        </p:grpSpPr>
        <p:sp>
          <p:nvSpPr>
            <p:cNvPr id="392" name="Google Shape;392;p23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23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rgbClr val="140A1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HOW NEURAL NETWORKS WORKS?</a:t>
              </a:r>
              <a:endParaRPr b="1" i="0" sz="1000" u="none" cap="none" strike="noStrike">
                <a:solidFill>
                  <a:srgbClr val="140A1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394" name="Google Shape;394;p23"/>
          <p:cNvSpPr/>
          <p:nvPr/>
        </p:nvSpPr>
        <p:spPr>
          <a:xfrm>
            <a:off x="2445100" y="2138034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3"/>
          <p:cNvSpPr/>
          <p:nvPr/>
        </p:nvSpPr>
        <p:spPr>
          <a:xfrm>
            <a:off x="2445100" y="2982531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3"/>
          <p:cNvSpPr/>
          <p:nvPr/>
        </p:nvSpPr>
        <p:spPr>
          <a:xfrm>
            <a:off x="3713879" y="1796159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3"/>
          <p:cNvSpPr/>
          <p:nvPr/>
        </p:nvSpPr>
        <p:spPr>
          <a:xfrm>
            <a:off x="3713879" y="2640656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3"/>
          <p:cNvSpPr/>
          <p:nvPr/>
        </p:nvSpPr>
        <p:spPr>
          <a:xfrm>
            <a:off x="3713879" y="3485153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3"/>
          <p:cNvSpPr/>
          <p:nvPr/>
        </p:nvSpPr>
        <p:spPr>
          <a:xfrm>
            <a:off x="5062454" y="1402525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3"/>
          <p:cNvSpPr/>
          <p:nvPr/>
        </p:nvSpPr>
        <p:spPr>
          <a:xfrm>
            <a:off x="5062454" y="2247022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3"/>
          <p:cNvSpPr/>
          <p:nvPr/>
        </p:nvSpPr>
        <p:spPr>
          <a:xfrm>
            <a:off x="5062454" y="3091519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3"/>
          <p:cNvSpPr/>
          <p:nvPr/>
        </p:nvSpPr>
        <p:spPr>
          <a:xfrm>
            <a:off x="5062454" y="4034891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3"/>
          <p:cNvSpPr/>
          <p:nvPr/>
        </p:nvSpPr>
        <p:spPr>
          <a:xfrm>
            <a:off x="6411028" y="2138049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3"/>
          <p:cNvSpPr/>
          <p:nvPr/>
        </p:nvSpPr>
        <p:spPr>
          <a:xfrm>
            <a:off x="6411028" y="2982546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5" name="Google Shape;405;p23"/>
          <p:cNvCxnSpPr>
            <a:stCxn id="394" idx="6"/>
            <a:endCxn id="396" idx="2"/>
          </p:cNvCxnSpPr>
          <p:nvPr/>
        </p:nvCxnSpPr>
        <p:spPr>
          <a:xfrm flipH="1" rot="10800000">
            <a:off x="2837200" y="1992834"/>
            <a:ext cx="876600" cy="34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" name="Google Shape;406;p23"/>
          <p:cNvCxnSpPr>
            <a:stCxn id="394" idx="6"/>
            <a:endCxn id="397" idx="2"/>
          </p:cNvCxnSpPr>
          <p:nvPr/>
        </p:nvCxnSpPr>
        <p:spPr>
          <a:xfrm>
            <a:off x="2837200" y="2334834"/>
            <a:ext cx="876600" cy="50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23"/>
          <p:cNvCxnSpPr>
            <a:stCxn id="395" idx="6"/>
            <a:endCxn id="397" idx="2"/>
          </p:cNvCxnSpPr>
          <p:nvPr/>
        </p:nvCxnSpPr>
        <p:spPr>
          <a:xfrm flipH="1" rot="10800000">
            <a:off x="2837200" y="2837331"/>
            <a:ext cx="876600" cy="34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" name="Google Shape;408;p23"/>
          <p:cNvCxnSpPr>
            <a:stCxn id="395" idx="6"/>
            <a:endCxn id="398" idx="2"/>
          </p:cNvCxnSpPr>
          <p:nvPr/>
        </p:nvCxnSpPr>
        <p:spPr>
          <a:xfrm>
            <a:off x="2837200" y="3179331"/>
            <a:ext cx="876600" cy="50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23"/>
          <p:cNvCxnSpPr>
            <a:stCxn id="395" idx="6"/>
            <a:endCxn id="396" idx="2"/>
          </p:cNvCxnSpPr>
          <p:nvPr/>
        </p:nvCxnSpPr>
        <p:spPr>
          <a:xfrm flipH="1" rot="10800000">
            <a:off x="2837200" y="1992831"/>
            <a:ext cx="876600" cy="1186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23"/>
          <p:cNvCxnSpPr>
            <a:stCxn id="394" idx="6"/>
            <a:endCxn id="398" idx="2"/>
          </p:cNvCxnSpPr>
          <p:nvPr/>
        </p:nvCxnSpPr>
        <p:spPr>
          <a:xfrm>
            <a:off x="2837200" y="2334834"/>
            <a:ext cx="876600" cy="134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3"/>
          <p:cNvCxnSpPr>
            <a:stCxn id="396" idx="6"/>
            <a:endCxn id="399" idx="2"/>
          </p:cNvCxnSpPr>
          <p:nvPr/>
        </p:nvCxnSpPr>
        <p:spPr>
          <a:xfrm flipH="1" rot="10800000">
            <a:off x="4105979" y="1599359"/>
            <a:ext cx="9564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23"/>
          <p:cNvCxnSpPr>
            <a:stCxn id="396" idx="6"/>
            <a:endCxn id="400" idx="2"/>
          </p:cNvCxnSpPr>
          <p:nvPr/>
        </p:nvCxnSpPr>
        <p:spPr>
          <a:xfrm>
            <a:off x="4105979" y="1992959"/>
            <a:ext cx="956400" cy="45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23"/>
          <p:cNvCxnSpPr>
            <a:stCxn id="396" idx="6"/>
            <a:endCxn id="401" idx="2"/>
          </p:cNvCxnSpPr>
          <p:nvPr/>
        </p:nvCxnSpPr>
        <p:spPr>
          <a:xfrm>
            <a:off x="4105979" y="1992959"/>
            <a:ext cx="956400" cy="1295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23"/>
          <p:cNvCxnSpPr>
            <a:stCxn id="396" idx="6"/>
            <a:endCxn id="402" idx="2"/>
          </p:cNvCxnSpPr>
          <p:nvPr/>
        </p:nvCxnSpPr>
        <p:spPr>
          <a:xfrm>
            <a:off x="4105979" y="1992959"/>
            <a:ext cx="956400" cy="2238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23"/>
          <p:cNvCxnSpPr>
            <a:stCxn id="397" idx="6"/>
            <a:endCxn id="399" idx="2"/>
          </p:cNvCxnSpPr>
          <p:nvPr/>
        </p:nvCxnSpPr>
        <p:spPr>
          <a:xfrm flipH="1" rot="10800000">
            <a:off x="4105979" y="1599356"/>
            <a:ext cx="956400" cy="123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23"/>
          <p:cNvCxnSpPr>
            <a:stCxn id="397" idx="6"/>
            <a:endCxn id="400" idx="2"/>
          </p:cNvCxnSpPr>
          <p:nvPr/>
        </p:nvCxnSpPr>
        <p:spPr>
          <a:xfrm flipH="1" rot="10800000">
            <a:off x="4105979" y="2443856"/>
            <a:ext cx="9564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23"/>
          <p:cNvCxnSpPr>
            <a:stCxn id="397" idx="6"/>
            <a:endCxn id="401" idx="2"/>
          </p:cNvCxnSpPr>
          <p:nvPr/>
        </p:nvCxnSpPr>
        <p:spPr>
          <a:xfrm>
            <a:off x="4105979" y="2837456"/>
            <a:ext cx="956400" cy="45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23"/>
          <p:cNvCxnSpPr>
            <a:stCxn id="397" idx="6"/>
            <a:endCxn id="402" idx="2"/>
          </p:cNvCxnSpPr>
          <p:nvPr/>
        </p:nvCxnSpPr>
        <p:spPr>
          <a:xfrm>
            <a:off x="4105979" y="2837456"/>
            <a:ext cx="956400" cy="1394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23"/>
          <p:cNvCxnSpPr>
            <a:stCxn id="398" idx="6"/>
            <a:endCxn id="399" idx="2"/>
          </p:cNvCxnSpPr>
          <p:nvPr/>
        </p:nvCxnSpPr>
        <p:spPr>
          <a:xfrm flipH="1" rot="10800000">
            <a:off x="4105979" y="1599353"/>
            <a:ext cx="956400" cy="2082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23"/>
          <p:cNvCxnSpPr>
            <a:stCxn id="398" idx="6"/>
            <a:endCxn id="400" idx="2"/>
          </p:cNvCxnSpPr>
          <p:nvPr/>
        </p:nvCxnSpPr>
        <p:spPr>
          <a:xfrm flipH="1" rot="10800000">
            <a:off x="4105979" y="2443853"/>
            <a:ext cx="956400" cy="1238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23"/>
          <p:cNvCxnSpPr>
            <a:stCxn id="398" idx="6"/>
            <a:endCxn id="401" idx="2"/>
          </p:cNvCxnSpPr>
          <p:nvPr/>
        </p:nvCxnSpPr>
        <p:spPr>
          <a:xfrm flipH="1" rot="10800000">
            <a:off x="4105979" y="3288353"/>
            <a:ext cx="9564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23"/>
          <p:cNvCxnSpPr>
            <a:stCxn id="398" idx="6"/>
            <a:endCxn id="402" idx="2"/>
          </p:cNvCxnSpPr>
          <p:nvPr/>
        </p:nvCxnSpPr>
        <p:spPr>
          <a:xfrm>
            <a:off x="4105979" y="3681953"/>
            <a:ext cx="956400" cy="549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23"/>
          <p:cNvCxnSpPr>
            <a:stCxn id="399" idx="6"/>
            <a:endCxn id="403" idx="2"/>
          </p:cNvCxnSpPr>
          <p:nvPr/>
        </p:nvCxnSpPr>
        <p:spPr>
          <a:xfrm>
            <a:off x="5454554" y="1599325"/>
            <a:ext cx="956400" cy="73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23"/>
          <p:cNvCxnSpPr>
            <a:stCxn id="399" idx="6"/>
            <a:endCxn id="404" idx="2"/>
          </p:cNvCxnSpPr>
          <p:nvPr/>
        </p:nvCxnSpPr>
        <p:spPr>
          <a:xfrm>
            <a:off x="5454554" y="1599325"/>
            <a:ext cx="956400" cy="1580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23"/>
          <p:cNvCxnSpPr>
            <a:stCxn id="400" idx="6"/>
            <a:endCxn id="403" idx="2"/>
          </p:cNvCxnSpPr>
          <p:nvPr/>
        </p:nvCxnSpPr>
        <p:spPr>
          <a:xfrm flipH="1" rot="10800000">
            <a:off x="5454554" y="2334922"/>
            <a:ext cx="956400" cy="10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23"/>
          <p:cNvCxnSpPr>
            <a:stCxn id="400" idx="6"/>
            <a:endCxn id="404" idx="2"/>
          </p:cNvCxnSpPr>
          <p:nvPr/>
        </p:nvCxnSpPr>
        <p:spPr>
          <a:xfrm>
            <a:off x="5454554" y="2443822"/>
            <a:ext cx="956400" cy="73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23"/>
          <p:cNvCxnSpPr>
            <a:stCxn id="401" idx="6"/>
            <a:endCxn id="403" idx="2"/>
          </p:cNvCxnSpPr>
          <p:nvPr/>
        </p:nvCxnSpPr>
        <p:spPr>
          <a:xfrm flipH="1" rot="10800000">
            <a:off x="5454554" y="2334919"/>
            <a:ext cx="956400" cy="953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23"/>
          <p:cNvCxnSpPr>
            <a:stCxn id="401" idx="6"/>
            <a:endCxn id="404" idx="2"/>
          </p:cNvCxnSpPr>
          <p:nvPr/>
        </p:nvCxnSpPr>
        <p:spPr>
          <a:xfrm flipH="1" rot="10800000">
            <a:off x="5454554" y="3179419"/>
            <a:ext cx="956400" cy="108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23"/>
          <p:cNvCxnSpPr>
            <a:stCxn id="402" idx="6"/>
            <a:endCxn id="404" idx="2"/>
          </p:cNvCxnSpPr>
          <p:nvPr/>
        </p:nvCxnSpPr>
        <p:spPr>
          <a:xfrm flipH="1" rot="10800000">
            <a:off x="5454554" y="3179291"/>
            <a:ext cx="956400" cy="1052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23"/>
          <p:cNvCxnSpPr>
            <a:stCxn id="402" idx="6"/>
            <a:endCxn id="403" idx="2"/>
          </p:cNvCxnSpPr>
          <p:nvPr/>
        </p:nvCxnSpPr>
        <p:spPr>
          <a:xfrm flipH="1" rot="10800000">
            <a:off x="5454554" y="2334791"/>
            <a:ext cx="956400" cy="1896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1" name="Google Shape;431;p23"/>
          <p:cNvSpPr/>
          <p:nvPr/>
        </p:nvSpPr>
        <p:spPr>
          <a:xfrm>
            <a:off x="7299278" y="2531624"/>
            <a:ext cx="392100" cy="393600"/>
          </a:xfrm>
          <a:prstGeom prst="ellipse">
            <a:avLst/>
          </a:prstGeom>
          <a:solidFill>
            <a:schemeClr val="lt1"/>
          </a:solidFill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2" name="Google Shape;432;p23"/>
          <p:cNvCxnSpPr>
            <a:stCxn id="403" idx="6"/>
            <a:endCxn id="431" idx="2"/>
          </p:cNvCxnSpPr>
          <p:nvPr/>
        </p:nvCxnSpPr>
        <p:spPr>
          <a:xfrm>
            <a:off x="6803128" y="2334849"/>
            <a:ext cx="496200" cy="393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23"/>
          <p:cNvCxnSpPr>
            <a:stCxn id="404" idx="6"/>
            <a:endCxn id="431" idx="2"/>
          </p:cNvCxnSpPr>
          <p:nvPr/>
        </p:nvCxnSpPr>
        <p:spPr>
          <a:xfrm flipH="1" rot="10800000">
            <a:off x="6803128" y="2728446"/>
            <a:ext cx="496200" cy="4509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34" name="Google Shape;4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000" y="1779979"/>
            <a:ext cx="1896884" cy="1896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5" name="Google Shape;435;p23"/>
          <p:cNvCxnSpPr>
            <a:stCxn id="431" idx="6"/>
          </p:cNvCxnSpPr>
          <p:nvPr/>
        </p:nvCxnSpPr>
        <p:spPr>
          <a:xfrm flipH="1" rot="10800000">
            <a:off x="7691378" y="2717024"/>
            <a:ext cx="445800" cy="11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6" name="Google Shape;436;p23"/>
          <p:cNvSpPr txBox="1"/>
          <p:nvPr/>
        </p:nvSpPr>
        <p:spPr>
          <a:xfrm>
            <a:off x="8081950" y="2487250"/>
            <a:ext cx="956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GOAT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437" name="Google Shape;437;p23"/>
          <p:cNvSpPr txBox="1"/>
          <p:nvPr/>
        </p:nvSpPr>
        <p:spPr>
          <a:xfrm>
            <a:off x="3027438" y="1836088"/>
            <a:ext cx="49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0.5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38" name="Google Shape;438;p23"/>
          <p:cNvSpPr txBox="1"/>
          <p:nvPr/>
        </p:nvSpPr>
        <p:spPr>
          <a:xfrm>
            <a:off x="2949313" y="3342038"/>
            <a:ext cx="49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0.8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39" name="Google Shape;439;p23"/>
          <p:cNvSpPr txBox="1"/>
          <p:nvPr/>
        </p:nvSpPr>
        <p:spPr>
          <a:xfrm>
            <a:off x="3027425" y="2951138"/>
            <a:ext cx="49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0.1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40" name="Google Shape;440;p23"/>
          <p:cNvSpPr txBox="1"/>
          <p:nvPr/>
        </p:nvSpPr>
        <p:spPr>
          <a:xfrm>
            <a:off x="4255238" y="1406863"/>
            <a:ext cx="49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0.9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41" name="Google Shape;441;p23"/>
          <p:cNvSpPr txBox="1"/>
          <p:nvPr/>
        </p:nvSpPr>
        <p:spPr>
          <a:xfrm>
            <a:off x="5841513" y="1595763"/>
            <a:ext cx="496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0.7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442" name="Google Shape;442;p23"/>
          <p:cNvSpPr txBox="1"/>
          <p:nvPr/>
        </p:nvSpPr>
        <p:spPr>
          <a:xfrm>
            <a:off x="4000650" y="593325"/>
            <a:ext cx="475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Output = Activation Function</a:t>
            </a:r>
            <a:r>
              <a:rPr b="1" lang="en" sz="2000">
                <a:solidFill>
                  <a:srgbClr val="FF0000"/>
                </a:solidFill>
              </a:rPr>
              <a:t>(</a:t>
            </a:r>
            <a:r>
              <a:rPr b="1" lang="en">
                <a:solidFill>
                  <a:schemeClr val="dk1"/>
                </a:solidFill>
              </a:rPr>
              <a:t>∑(Input×Weight)+Bias</a:t>
            </a:r>
            <a:r>
              <a:rPr b="1" lang="en" sz="2000">
                <a:solidFill>
                  <a:srgbClr val="FF0000"/>
                </a:solidFill>
              </a:rPr>
              <a:t>)</a:t>
            </a:r>
            <a:endParaRPr b="1"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4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NETWORKS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448" name="Google Shape;448;p24"/>
          <p:cNvGrpSpPr/>
          <p:nvPr/>
        </p:nvGrpSpPr>
        <p:grpSpPr>
          <a:xfrm>
            <a:off x="758849" y="593358"/>
            <a:ext cx="2547091" cy="284395"/>
            <a:chOff x="304400" y="1038050"/>
            <a:chExt cx="5191788" cy="781949"/>
          </a:xfrm>
        </p:grpSpPr>
        <p:sp>
          <p:nvSpPr>
            <p:cNvPr id="449" name="Google Shape;449;p24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24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rgbClr val="140A1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HOW NEURAL NETWORKS LEARNS?</a:t>
              </a:r>
              <a:endParaRPr b="1" i="0" sz="1000" u="none" cap="none" strike="noStrike">
                <a:solidFill>
                  <a:srgbClr val="140A1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451" name="Google Shape;451;p24"/>
          <p:cNvGrpSpPr/>
          <p:nvPr/>
        </p:nvGrpSpPr>
        <p:grpSpPr>
          <a:xfrm>
            <a:off x="829038" y="1572337"/>
            <a:ext cx="5409163" cy="717681"/>
            <a:chOff x="752838" y="1267538"/>
            <a:chExt cx="5409163" cy="717681"/>
          </a:xfrm>
        </p:grpSpPr>
        <p:sp>
          <p:nvSpPr>
            <p:cNvPr id="452" name="Google Shape;452;p24"/>
            <p:cNvSpPr txBox="1"/>
            <p:nvPr/>
          </p:nvSpPr>
          <p:spPr>
            <a:xfrm>
              <a:off x="899400" y="1594250"/>
              <a:ext cx="5262600" cy="3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</a:rPr>
                <a:t>Training with labeled data to map inputs to desired outputs.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53" name="Google Shape;453;p24"/>
            <p:cNvSpPr txBox="1"/>
            <p:nvPr/>
          </p:nvSpPr>
          <p:spPr>
            <a:xfrm>
              <a:off x="899400" y="1267538"/>
              <a:ext cx="3492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Supervised Learning</a:t>
              </a:r>
              <a:endParaRPr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cxnSp>
          <p:nvCxnSpPr>
            <p:cNvPr id="454" name="Google Shape;454;p24"/>
            <p:cNvCxnSpPr/>
            <p:nvPr/>
          </p:nvCxnSpPr>
          <p:spPr>
            <a:xfrm flipH="1">
              <a:off x="752838" y="1291319"/>
              <a:ext cx="6000" cy="693900"/>
            </a:xfrm>
            <a:prstGeom prst="straightConnector1">
              <a:avLst/>
            </a:prstGeom>
            <a:noFill/>
            <a:ln cap="flat" cmpd="sng" w="28575">
              <a:solidFill>
                <a:srgbClr val="691633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 dir="5400000" dist="19050">
                <a:srgbClr val="AAFDFF">
                  <a:alpha val="50000"/>
                </a:srgbClr>
              </a:outerShdw>
            </a:effectLst>
          </p:spPr>
        </p:cxnSp>
      </p:grpSp>
      <p:grpSp>
        <p:nvGrpSpPr>
          <p:cNvPr id="455" name="Google Shape;455;p24"/>
          <p:cNvGrpSpPr/>
          <p:nvPr/>
        </p:nvGrpSpPr>
        <p:grpSpPr>
          <a:xfrm>
            <a:off x="829038" y="2572363"/>
            <a:ext cx="6510163" cy="717681"/>
            <a:chOff x="752838" y="1267538"/>
            <a:chExt cx="6510163" cy="717681"/>
          </a:xfrm>
        </p:grpSpPr>
        <p:sp>
          <p:nvSpPr>
            <p:cNvPr id="456" name="Google Shape;456;p24"/>
            <p:cNvSpPr txBox="1"/>
            <p:nvPr/>
          </p:nvSpPr>
          <p:spPr>
            <a:xfrm>
              <a:off x="899400" y="1594250"/>
              <a:ext cx="6363600" cy="3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</a:rPr>
                <a:t>Training without labels, focusing on identifying patterns and clusters in data.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57" name="Google Shape;457;p24"/>
            <p:cNvSpPr txBox="1"/>
            <p:nvPr/>
          </p:nvSpPr>
          <p:spPr>
            <a:xfrm>
              <a:off x="899400" y="1267538"/>
              <a:ext cx="3492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Unsupervised Learning</a:t>
              </a:r>
              <a:endParaRPr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cxnSp>
          <p:nvCxnSpPr>
            <p:cNvPr id="458" name="Google Shape;458;p24"/>
            <p:cNvCxnSpPr/>
            <p:nvPr/>
          </p:nvCxnSpPr>
          <p:spPr>
            <a:xfrm flipH="1">
              <a:off x="752838" y="1291319"/>
              <a:ext cx="6000" cy="693900"/>
            </a:xfrm>
            <a:prstGeom prst="straightConnector1">
              <a:avLst/>
            </a:prstGeom>
            <a:noFill/>
            <a:ln cap="flat" cmpd="sng" w="28575">
              <a:solidFill>
                <a:srgbClr val="691633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 dir="5400000" dist="19050">
                <a:srgbClr val="AAFDFF">
                  <a:alpha val="50000"/>
                </a:srgbClr>
              </a:outerShdw>
            </a:effectLst>
          </p:spPr>
        </p:cxnSp>
      </p:grpSp>
      <p:grpSp>
        <p:nvGrpSpPr>
          <p:cNvPr id="459" name="Google Shape;459;p24"/>
          <p:cNvGrpSpPr/>
          <p:nvPr/>
        </p:nvGrpSpPr>
        <p:grpSpPr>
          <a:xfrm>
            <a:off x="829038" y="3511238"/>
            <a:ext cx="7618063" cy="717681"/>
            <a:chOff x="752838" y="1267538"/>
            <a:chExt cx="7618063" cy="717681"/>
          </a:xfrm>
        </p:grpSpPr>
        <p:sp>
          <p:nvSpPr>
            <p:cNvPr id="460" name="Google Shape;460;p24"/>
            <p:cNvSpPr txBox="1"/>
            <p:nvPr/>
          </p:nvSpPr>
          <p:spPr>
            <a:xfrm>
              <a:off x="899400" y="1594250"/>
              <a:ext cx="7471500" cy="36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>
                  <a:solidFill>
                    <a:schemeClr val="dk1"/>
                  </a:solidFill>
                </a:rPr>
                <a:t>Learning through interaction with an environment using rewards and penalties to optimize strategies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461" name="Google Shape;461;p24"/>
            <p:cNvSpPr txBox="1"/>
            <p:nvPr/>
          </p:nvSpPr>
          <p:spPr>
            <a:xfrm>
              <a:off x="899400" y="1267538"/>
              <a:ext cx="34926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Reinforcement Learning</a:t>
              </a:r>
              <a:endParaRPr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  <p:cxnSp>
          <p:nvCxnSpPr>
            <p:cNvPr id="462" name="Google Shape;462;p24"/>
            <p:cNvCxnSpPr/>
            <p:nvPr/>
          </p:nvCxnSpPr>
          <p:spPr>
            <a:xfrm flipH="1">
              <a:off x="752838" y="1291319"/>
              <a:ext cx="6000" cy="693900"/>
            </a:xfrm>
            <a:prstGeom prst="straightConnector1">
              <a:avLst/>
            </a:prstGeom>
            <a:noFill/>
            <a:ln cap="flat" cmpd="sng" w="28575">
              <a:solidFill>
                <a:srgbClr val="691633"/>
              </a:solidFill>
              <a:prstDash val="solid"/>
              <a:round/>
              <a:headEnd len="med" w="med" type="none"/>
              <a:tailEnd len="med" w="med" type="none"/>
            </a:ln>
            <a:effectLst>
              <a:outerShdw blurRad="200025" rotWithShape="0" algn="bl" dir="5400000" dist="19050">
                <a:srgbClr val="AAFDFF">
                  <a:alpha val="50000"/>
                </a:srgbClr>
              </a:outerShdw>
            </a:effectLst>
          </p:spPr>
        </p:cxnSp>
      </p:grpSp>
      <p:sp>
        <p:nvSpPr>
          <p:cNvPr id="463" name="Google Shape;463;p24"/>
          <p:cNvSpPr txBox="1"/>
          <p:nvPr/>
        </p:nvSpPr>
        <p:spPr>
          <a:xfrm>
            <a:off x="700425" y="1030175"/>
            <a:ext cx="4456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HOW TO TRAIN NEURAL </a:t>
            </a:r>
            <a:r>
              <a:rPr b="1"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NETWORKS?</a:t>
            </a: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91633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5"/>
          <p:cNvSpPr txBox="1"/>
          <p:nvPr/>
        </p:nvSpPr>
        <p:spPr>
          <a:xfrm>
            <a:off x="2373900" y="2022150"/>
            <a:ext cx="4396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TYPES OF </a:t>
            </a:r>
            <a:r>
              <a:rPr lang="en" sz="3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NEURAL NETWORKS</a:t>
            </a:r>
            <a:endParaRPr sz="3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6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NETWORKS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474" name="Google Shape;474;p26"/>
          <p:cNvGrpSpPr/>
          <p:nvPr/>
        </p:nvGrpSpPr>
        <p:grpSpPr>
          <a:xfrm>
            <a:off x="758849" y="593358"/>
            <a:ext cx="2547091" cy="284395"/>
            <a:chOff x="304400" y="1038050"/>
            <a:chExt cx="5191788" cy="781949"/>
          </a:xfrm>
        </p:grpSpPr>
        <p:sp>
          <p:nvSpPr>
            <p:cNvPr id="475" name="Google Shape;475;p26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26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400"/>
                <a:buFont typeface="Inter"/>
                <a:buNone/>
              </a:pPr>
              <a:r>
                <a:rPr b="1" lang="en" sz="1000">
                  <a:solidFill>
                    <a:srgbClr val="272525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FEEDFORWARD NEURAL NETWORKS</a:t>
              </a:r>
              <a:endParaRPr b="1" sz="1000">
                <a:solidFill>
                  <a:srgbClr val="140A1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477" name="Google Shape;477;p26"/>
          <p:cNvSpPr txBox="1"/>
          <p:nvPr/>
        </p:nvSpPr>
        <p:spPr>
          <a:xfrm>
            <a:off x="675125" y="877775"/>
            <a:ext cx="552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272525"/>
                </a:solidFill>
                <a:latin typeface="Montserrat"/>
                <a:ea typeface="Montserrat"/>
                <a:cs typeface="Montserrat"/>
                <a:sym typeface="Montserrat"/>
              </a:rPr>
              <a:t>FEEDFORWARD NEURAL NETWORKS (FNN)</a:t>
            </a:r>
            <a:endParaRPr b="1" sz="1800">
              <a:solidFill>
                <a:srgbClr val="140A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8" name="Google Shape;478;p26"/>
          <p:cNvSpPr txBox="1"/>
          <p:nvPr/>
        </p:nvSpPr>
        <p:spPr>
          <a:xfrm>
            <a:off x="675125" y="1284925"/>
            <a:ext cx="46893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72525"/>
                </a:solidFill>
              </a:rPr>
              <a:t>The simplest type of NN where data flows in one direction: from input to output. Consists of an input layer, hidden layers, and an output layer. No loops or cycles.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79" name="Google Shape;479;p26"/>
          <p:cNvSpPr txBox="1"/>
          <p:nvPr/>
        </p:nvSpPr>
        <p:spPr>
          <a:xfrm>
            <a:off x="675125" y="2022825"/>
            <a:ext cx="4689300" cy="18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b="1" lang="en" sz="1300">
                <a:solidFill>
                  <a:schemeClr val="dk1"/>
                </a:solidFill>
              </a:rPr>
              <a:t>Use Cases of FNNs</a:t>
            </a:r>
            <a:endParaRPr b="1"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b="1" lang="en" sz="1100">
                <a:solidFill>
                  <a:schemeClr val="dk1"/>
                </a:solidFill>
              </a:rPr>
              <a:t>Classification:</a:t>
            </a:r>
            <a:endParaRPr b="1"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Predicting class labels based on input features, commonly used for simple tasks where relationships are not too complex.</a:t>
            </a:r>
            <a:endParaRPr sz="11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➢"/>
            </a:pPr>
            <a:r>
              <a:rPr b="1" lang="en" sz="1100">
                <a:solidFill>
                  <a:schemeClr val="dk1"/>
                </a:solidFill>
              </a:rPr>
              <a:t>Regression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endParaRPr b="1"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Predicting continuous output values, useful in tasks where input features are related to a continuous target variable.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80" name="Google Shape;480;p26"/>
          <p:cNvSpPr txBox="1"/>
          <p:nvPr/>
        </p:nvSpPr>
        <p:spPr>
          <a:xfrm>
            <a:off x="638525" y="3833325"/>
            <a:ext cx="51354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b="1" lang="en" sz="1300">
                <a:solidFill>
                  <a:schemeClr val="dk1"/>
                </a:solidFill>
              </a:rPr>
              <a:t>Advantages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Easy to implement. Suitable for simple pattern recognition tasks.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81" name="Google Shape;481;p26"/>
          <p:cNvSpPr txBox="1"/>
          <p:nvPr/>
        </p:nvSpPr>
        <p:spPr>
          <a:xfrm>
            <a:off x="5832575" y="3727475"/>
            <a:ext cx="31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rgbClr val="3C78D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https://learnopencv.com/understanding-feedforward-neural-networks/</a:t>
            </a:r>
            <a:endParaRPr sz="600">
              <a:solidFill>
                <a:srgbClr val="3C78D8"/>
              </a:solidFill>
            </a:endParaRPr>
          </a:p>
        </p:txBody>
      </p:sp>
      <p:pic>
        <p:nvPicPr>
          <p:cNvPr id="482" name="Google Shape;48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4425" y="1791875"/>
            <a:ext cx="3629249" cy="2041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7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NETWORKS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488" name="Google Shape;488;p27"/>
          <p:cNvGrpSpPr/>
          <p:nvPr/>
        </p:nvGrpSpPr>
        <p:grpSpPr>
          <a:xfrm>
            <a:off x="758849" y="593358"/>
            <a:ext cx="2547091" cy="284395"/>
            <a:chOff x="304400" y="1038050"/>
            <a:chExt cx="5191788" cy="781949"/>
          </a:xfrm>
        </p:grpSpPr>
        <p:sp>
          <p:nvSpPr>
            <p:cNvPr id="489" name="Google Shape;489;p27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27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25925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9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CONVOLUTIONAL NEURAL NETWORKS</a:t>
              </a:r>
              <a:endParaRPr b="1" sz="900">
                <a:solidFill>
                  <a:srgbClr val="272525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491" name="Google Shape;491;p27"/>
          <p:cNvSpPr txBox="1"/>
          <p:nvPr/>
        </p:nvSpPr>
        <p:spPr>
          <a:xfrm>
            <a:off x="675125" y="877775"/>
            <a:ext cx="572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CONVOLUTIONAL NEURAL NETWORKS (CNN)</a:t>
            </a:r>
            <a:endParaRPr b="1" sz="1800">
              <a:solidFill>
                <a:srgbClr val="27252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p27"/>
          <p:cNvSpPr txBox="1"/>
          <p:nvPr/>
        </p:nvSpPr>
        <p:spPr>
          <a:xfrm>
            <a:off x="675125" y="1284925"/>
            <a:ext cx="4993200" cy="9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72525"/>
                </a:solidFill>
              </a:rPr>
              <a:t>Specialized NNs designed for processing grid-like data, such as images. Employ convolutional layers that detect spatial hierarchies and patterns like edges, shapes, and textures. Includes pooling layers for dimensionality reduction and feature extraction.</a:t>
            </a:r>
            <a:endParaRPr sz="1100">
              <a:solidFill>
                <a:srgbClr val="272525"/>
              </a:solidFill>
            </a:endParaRPr>
          </a:p>
        </p:txBody>
      </p:sp>
      <p:sp>
        <p:nvSpPr>
          <p:cNvPr id="493" name="Google Shape;493;p27"/>
          <p:cNvSpPr txBox="1"/>
          <p:nvPr/>
        </p:nvSpPr>
        <p:spPr>
          <a:xfrm>
            <a:off x="638525" y="3833325"/>
            <a:ext cx="51354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b="1" lang="en" sz="1300">
                <a:solidFill>
                  <a:schemeClr val="dk1"/>
                </a:solidFill>
              </a:rPr>
              <a:t>Advantages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High accuracy in image-related tasks. Efficient handling of large-scale data.</a:t>
            </a:r>
            <a:endParaRPr sz="1000">
              <a:solidFill>
                <a:srgbClr val="27252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4" name="Google Shape;494;p27"/>
          <p:cNvSpPr txBox="1"/>
          <p:nvPr/>
        </p:nvSpPr>
        <p:spPr>
          <a:xfrm>
            <a:off x="5832575" y="3727475"/>
            <a:ext cx="316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rgbClr val="3C78D8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https://towardsdatascience.com/a-comprehensive-guide-to-convolutional-neural-networks-the-eli5-way-3bd2b1164a53</a:t>
            </a:r>
            <a:endParaRPr sz="600">
              <a:solidFill>
                <a:srgbClr val="3C78D8"/>
              </a:solidFill>
            </a:endParaRPr>
          </a:p>
        </p:txBody>
      </p:sp>
      <p:pic>
        <p:nvPicPr>
          <p:cNvPr descr="preencoded.png" id="495" name="Google Shape;49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4425" y="1741701"/>
            <a:ext cx="3630399" cy="194227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27"/>
          <p:cNvSpPr txBox="1"/>
          <p:nvPr/>
        </p:nvSpPr>
        <p:spPr>
          <a:xfrm>
            <a:off x="675125" y="2022825"/>
            <a:ext cx="5062200" cy="19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b="1" lang="en" sz="1300">
                <a:solidFill>
                  <a:schemeClr val="dk1"/>
                </a:solidFill>
              </a:rPr>
              <a:t>Use Cases of RNNs</a:t>
            </a:r>
            <a:endParaRPr b="1"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b="1" lang="en" sz="1100">
                <a:solidFill>
                  <a:schemeClr val="dk1"/>
                </a:solidFill>
              </a:rPr>
              <a:t>Image Recognition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endParaRPr b="1" sz="11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Identifying objects, patterns, or features within images.</a:t>
            </a:r>
            <a:endParaRPr sz="11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➢"/>
            </a:pPr>
            <a:r>
              <a:rPr b="1" lang="en" sz="1100">
                <a:solidFill>
                  <a:schemeClr val="dk1"/>
                </a:solidFill>
              </a:rPr>
              <a:t>Object Detection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endParaRPr b="1" sz="11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Detecting and locating objects within images.</a:t>
            </a:r>
            <a:endParaRPr sz="11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➢"/>
            </a:pPr>
            <a:r>
              <a:rPr b="1" lang="en" sz="1100">
                <a:solidFill>
                  <a:schemeClr val="dk1"/>
                </a:solidFill>
              </a:rPr>
              <a:t>Video Analysis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endParaRPr b="1"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Analyzing video data by processing frames sequentially or in parallel to capture temporal relationships.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8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NETWORKS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502" name="Google Shape;502;p28"/>
          <p:cNvGrpSpPr/>
          <p:nvPr/>
        </p:nvGrpSpPr>
        <p:grpSpPr>
          <a:xfrm>
            <a:off x="758849" y="593358"/>
            <a:ext cx="2547091" cy="284395"/>
            <a:chOff x="304400" y="1038050"/>
            <a:chExt cx="5191788" cy="781949"/>
          </a:xfrm>
        </p:grpSpPr>
        <p:sp>
          <p:nvSpPr>
            <p:cNvPr id="503" name="Google Shape;503;p28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28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rgbClr val="140A1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RECURRENT NEURAL NETWORKS</a:t>
              </a:r>
              <a:endParaRPr b="1" i="0" sz="1000" u="none" cap="none" strike="noStrike">
                <a:solidFill>
                  <a:srgbClr val="140A1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505" name="Google Shape;505;p28"/>
          <p:cNvSpPr txBox="1"/>
          <p:nvPr/>
        </p:nvSpPr>
        <p:spPr>
          <a:xfrm>
            <a:off x="675125" y="877775"/>
            <a:ext cx="4455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40A14"/>
                </a:solidFill>
                <a:latin typeface="Montserrat"/>
                <a:ea typeface="Montserrat"/>
                <a:cs typeface="Montserrat"/>
                <a:sym typeface="Montserrat"/>
              </a:rPr>
              <a:t>RECURRENT NEURAL NETWORKS</a:t>
            </a:r>
            <a:endParaRPr b="1" sz="1800">
              <a:solidFill>
                <a:srgbClr val="140A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6" name="Google Shape;50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48149" y="1208727"/>
            <a:ext cx="3450227" cy="2644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28"/>
          <p:cNvSpPr txBox="1"/>
          <p:nvPr/>
        </p:nvSpPr>
        <p:spPr>
          <a:xfrm>
            <a:off x="675125" y="1284925"/>
            <a:ext cx="46893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RNNs are particularly well-suited for processing sequential data, such as text or audio. They have internal memory to remember past inputs, allowing them to understand context and dependencies in data.</a:t>
            </a:r>
            <a:endParaRPr sz="1100"/>
          </a:p>
        </p:txBody>
      </p:sp>
      <p:sp>
        <p:nvSpPr>
          <p:cNvPr id="508" name="Google Shape;508;p28"/>
          <p:cNvSpPr txBox="1"/>
          <p:nvPr/>
        </p:nvSpPr>
        <p:spPr>
          <a:xfrm>
            <a:off x="675125" y="2022825"/>
            <a:ext cx="5062200" cy="18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b="1" lang="en" sz="1300">
                <a:solidFill>
                  <a:schemeClr val="dk1"/>
                </a:solidFill>
              </a:rPr>
              <a:t>Use Cases of RNNs</a:t>
            </a:r>
            <a:endParaRPr b="1"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➢"/>
            </a:pPr>
            <a:r>
              <a:rPr b="1" lang="en" sz="1100">
                <a:solidFill>
                  <a:schemeClr val="dk1"/>
                </a:solidFill>
              </a:rPr>
              <a:t>Natural Language Processing (NLP):</a:t>
            </a:r>
            <a:endParaRPr b="1" sz="11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Language modeling, Text generation, Machine translation</a:t>
            </a:r>
            <a:endParaRPr sz="11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➢"/>
            </a:pPr>
            <a:r>
              <a:rPr b="1" lang="en" sz="1100">
                <a:solidFill>
                  <a:schemeClr val="dk1"/>
                </a:solidFill>
              </a:rPr>
              <a:t>Speech Recognition:</a:t>
            </a:r>
            <a:endParaRPr b="1" sz="11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Processing audio data for recognizing speech patterns</a:t>
            </a:r>
            <a:endParaRPr sz="11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➢"/>
            </a:pPr>
            <a:r>
              <a:rPr b="1" lang="en" sz="1100">
                <a:solidFill>
                  <a:schemeClr val="dk1"/>
                </a:solidFill>
              </a:rPr>
              <a:t>Time Series Prediction:</a:t>
            </a:r>
            <a:endParaRPr b="1" sz="11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Modeling temporal dependencies for forecasting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09" name="Google Shape;509;p28"/>
          <p:cNvSpPr txBox="1"/>
          <p:nvPr/>
        </p:nvSpPr>
        <p:spPr>
          <a:xfrm>
            <a:off x="638525" y="3833325"/>
            <a:ext cx="47259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b="1" lang="en" sz="1300">
                <a:solidFill>
                  <a:schemeClr val="dk1"/>
                </a:solidFill>
              </a:rPr>
              <a:t>Advantages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RNNs excel at capturing long-term dependencies, making them powerful tools for understanding complex sequential data.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10" name="Google Shape;510;p28"/>
          <p:cNvSpPr txBox="1"/>
          <p:nvPr/>
        </p:nvSpPr>
        <p:spPr>
          <a:xfrm>
            <a:off x="5832575" y="3833325"/>
            <a:ext cx="3161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rgbClr val="0563C1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https://towardsdatascience.com/introducing-recurrent-neural-networks-f359653d7020</a:t>
            </a:r>
            <a:endParaRPr sz="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9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NETWORKS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516" name="Google Shape;516;p29"/>
          <p:cNvGrpSpPr/>
          <p:nvPr/>
        </p:nvGrpSpPr>
        <p:grpSpPr>
          <a:xfrm>
            <a:off x="758849" y="593358"/>
            <a:ext cx="2547091" cy="284395"/>
            <a:chOff x="304400" y="1038050"/>
            <a:chExt cx="5191788" cy="781949"/>
          </a:xfrm>
        </p:grpSpPr>
        <p:sp>
          <p:nvSpPr>
            <p:cNvPr id="517" name="Google Shape;517;p29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9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 sz="900">
                  <a:solidFill>
                    <a:srgbClr val="140A1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GENERATIVE </a:t>
              </a:r>
              <a:r>
                <a:rPr b="1" lang="en" sz="900">
                  <a:solidFill>
                    <a:srgbClr val="140A1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ADVERSARIAL</a:t>
              </a:r>
              <a:r>
                <a:rPr b="1" lang="en" sz="900">
                  <a:solidFill>
                    <a:srgbClr val="140A1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NETWORKS</a:t>
              </a:r>
              <a:endParaRPr b="1" sz="900">
                <a:solidFill>
                  <a:srgbClr val="140A1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519" name="Google Shape;519;p29"/>
          <p:cNvSpPr txBox="1"/>
          <p:nvPr/>
        </p:nvSpPr>
        <p:spPr>
          <a:xfrm>
            <a:off x="675125" y="877775"/>
            <a:ext cx="506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140A14"/>
                </a:solidFill>
                <a:latin typeface="Proxima Nova"/>
                <a:ea typeface="Proxima Nova"/>
                <a:cs typeface="Proxima Nova"/>
                <a:sym typeface="Proxima Nova"/>
              </a:rPr>
              <a:t>GENERATIVE ADVERSARIAL NETWORKS</a:t>
            </a:r>
            <a:endParaRPr b="1" sz="1800">
              <a:solidFill>
                <a:srgbClr val="140A1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0" name="Google Shape;520;p29"/>
          <p:cNvSpPr txBox="1"/>
          <p:nvPr/>
        </p:nvSpPr>
        <p:spPr>
          <a:xfrm>
            <a:off x="675125" y="1284925"/>
            <a:ext cx="4689300" cy="9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GANs are a type of generative model that learns to create new data samples that resemble the training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Generator:</a:t>
            </a:r>
            <a:r>
              <a:rPr lang="en" sz="1100">
                <a:solidFill>
                  <a:schemeClr val="dk1"/>
                </a:solidFill>
              </a:rPr>
              <a:t> Creates fake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Discriminator:</a:t>
            </a:r>
            <a:r>
              <a:rPr lang="en" sz="1100">
                <a:solidFill>
                  <a:schemeClr val="dk1"/>
                </a:solidFill>
              </a:rPr>
              <a:t> Tries to distinguish between real and fake data.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21" name="Google Shape;521;p29"/>
          <p:cNvSpPr txBox="1"/>
          <p:nvPr/>
        </p:nvSpPr>
        <p:spPr>
          <a:xfrm>
            <a:off x="675125" y="2099025"/>
            <a:ext cx="50622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b="1" lang="en" sz="1300">
                <a:solidFill>
                  <a:schemeClr val="dk1"/>
                </a:solidFill>
              </a:rPr>
              <a:t>Use Cases of GANs</a:t>
            </a:r>
            <a:endParaRPr b="1" sz="13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b="1" lang="en" sz="1100">
                <a:solidFill>
                  <a:schemeClr val="dk1"/>
                </a:solidFill>
              </a:rPr>
              <a:t>Image Generation:</a:t>
            </a:r>
            <a:endParaRPr b="1" sz="1100"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Creating realistic, high-resolution photos.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b="1" lang="en" sz="1100">
                <a:solidFill>
                  <a:schemeClr val="dk1"/>
                </a:solidFill>
              </a:rPr>
              <a:t>Data Augmentation:</a:t>
            </a:r>
            <a:endParaRPr b="1" sz="1100"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Generating synthetic data to augment training datasets.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</a:pPr>
            <a:r>
              <a:rPr b="1" lang="en" sz="1100">
                <a:solidFill>
                  <a:schemeClr val="dk1"/>
                </a:solidFill>
              </a:rPr>
              <a:t>Creative Applications:</a:t>
            </a:r>
            <a:endParaRPr b="1" sz="1100"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Generating artwork or music.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522" name="Google Shape;522;p29"/>
          <p:cNvSpPr txBox="1"/>
          <p:nvPr/>
        </p:nvSpPr>
        <p:spPr>
          <a:xfrm>
            <a:off x="638525" y="3833325"/>
            <a:ext cx="45126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❖"/>
            </a:pPr>
            <a:r>
              <a:rPr b="1" lang="en" sz="1300">
                <a:solidFill>
                  <a:schemeClr val="dk1"/>
                </a:solidFill>
              </a:rPr>
              <a:t>Advantages</a:t>
            </a:r>
            <a:endParaRPr b="1" sz="13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GANs are known for their ability to generate high-quality, realistic data samples, surpassing traditional generative methods.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523" name="Google Shape;523;p29"/>
          <p:cNvPicPr preferRelativeResize="0"/>
          <p:nvPr/>
        </p:nvPicPr>
        <p:blipFill rotWithShape="1">
          <a:blip r:embed="rId3">
            <a:alphaModFix/>
          </a:blip>
          <a:srcRect b="8675" l="8950" r="0" t="0"/>
          <a:stretch/>
        </p:blipFill>
        <p:spPr>
          <a:xfrm>
            <a:off x="5151150" y="1339475"/>
            <a:ext cx="3925202" cy="2214576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29"/>
          <p:cNvSpPr txBox="1"/>
          <p:nvPr/>
        </p:nvSpPr>
        <p:spPr>
          <a:xfrm>
            <a:off x="5829300" y="3554050"/>
            <a:ext cx="3000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https://www.solulab.com/generative-adversarial-network/</a:t>
            </a:r>
            <a:endParaRPr sz="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0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NETWORKS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530" name="Google Shape;530;p30"/>
          <p:cNvGrpSpPr/>
          <p:nvPr/>
        </p:nvGrpSpPr>
        <p:grpSpPr>
          <a:xfrm>
            <a:off x="758849" y="593358"/>
            <a:ext cx="2547091" cy="284395"/>
            <a:chOff x="304400" y="1038050"/>
            <a:chExt cx="5191788" cy="781949"/>
          </a:xfrm>
        </p:grpSpPr>
        <p:sp>
          <p:nvSpPr>
            <p:cNvPr id="531" name="Google Shape;531;p30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30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rgbClr val="140A1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TYPES OF NEURAL NETWORK</a:t>
              </a:r>
              <a:endParaRPr b="1" sz="1000">
                <a:solidFill>
                  <a:srgbClr val="140A1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grpSp>
        <p:nvGrpSpPr>
          <p:cNvPr id="533" name="Google Shape;533;p30"/>
          <p:cNvGrpSpPr/>
          <p:nvPr/>
        </p:nvGrpSpPr>
        <p:grpSpPr>
          <a:xfrm>
            <a:off x="572750" y="593350"/>
            <a:ext cx="8818525" cy="3374375"/>
            <a:chOff x="572750" y="593350"/>
            <a:chExt cx="8818525" cy="3374375"/>
          </a:xfrm>
        </p:grpSpPr>
        <p:sp>
          <p:nvSpPr>
            <p:cNvPr id="534" name="Google Shape;534;p30"/>
            <p:cNvSpPr/>
            <p:nvPr/>
          </p:nvSpPr>
          <p:spPr>
            <a:xfrm>
              <a:off x="2896375" y="2205975"/>
              <a:ext cx="857400" cy="819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800"/>
                <a:t>?</a:t>
              </a:r>
              <a:endParaRPr sz="4800"/>
            </a:p>
          </p:txBody>
        </p:sp>
        <p:sp>
          <p:nvSpPr>
            <p:cNvPr id="535" name="Google Shape;535;p30"/>
            <p:cNvSpPr txBox="1"/>
            <p:nvPr/>
          </p:nvSpPr>
          <p:spPr>
            <a:xfrm>
              <a:off x="572750" y="1250500"/>
              <a:ext cx="1676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chemeClr val="dk1"/>
                  </a:solidFill>
                </a:rPr>
                <a:t>FEEDFORWARD NEURAL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NETWORKS</a:t>
              </a:r>
              <a:endParaRPr b="1" sz="1000">
                <a:solidFill>
                  <a:schemeClr val="dk2"/>
                </a:solidFill>
              </a:endParaRPr>
            </a:p>
          </p:txBody>
        </p:sp>
        <p:sp>
          <p:nvSpPr>
            <p:cNvPr id="536" name="Google Shape;536;p30"/>
            <p:cNvSpPr txBox="1"/>
            <p:nvPr/>
          </p:nvSpPr>
          <p:spPr>
            <a:xfrm>
              <a:off x="572750" y="1971675"/>
              <a:ext cx="1877700" cy="5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CONVOLUTIONAL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NEURAL NETWORKS</a:t>
              </a:r>
              <a:endParaRPr b="1" sz="1000">
                <a:solidFill>
                  <a:schemeClr val="dk1"/>
                </a:solidFill>
              </a:endParaRPr>
            </a:p>
          </p:txBody>
        </p:sp>
        <p:sp>
          <p:nvSpPr>
            <p:cNvPr id="537" name="Google Shape;537;p30"/>
            <p:cNvSpPr txBox="1"/>
            <p:nvPr/>
          </p:nvSpPr>
          <p:spPr>
            <a:xfrm>
              <a:off x="572750" y="2775050"/>
              <a:ext cx="1734900" cy="5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RECURRENT NEURAL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NETWORKS</a:t>
              </a:r>
              <a:endParaRPr b="1" sz="1000">
                <a:solidFill>
                  <a:schemeClr val="dk1"/>
                </a:solidFill>
              </a:endParaRPr>
            </a:p>
          </p:txBody>
        </p:sp>
        <p:sp>
          <p:nvSpPr>
            <p:cNvPr id="538" name="Google Shape;538;p30"/>
            <p:cNvSpPr txBox="1"/>
            <p:nvPr/>
          </p:nvSpPr>
          <p:spPr>
            <a:xfrm>
              <a:off x="572750" y="3629025"/>
              <a:ext cx="1563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LSTM AND GRU</a:t>
              </a:r>
              <a:endParaRPr b="1" sz="1000">
                <a:solidFill>
                  <a:schemeClr val="dk1"/>
                </a:solidFill>
              </a:endParaRPr>
            </a:p>
          </p:txBody>
        </p:sp>
        <p:sp>
          <p:nvSpPr>
            <p:cNvPr id="539" name="Google Shape;539;p30"/>
            <p:cNvSpPr txBox="1"/>
            <p:nvPr/>
          </p:nvSpPr>
          <p:spPr>
            <a:xfrm>
              <a:off x="4438725" y="1250500"/>
              <a:ext cx="1398000" cy="6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GENERATIVE ADVERSARIAL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NETWORKS</a:t>
              </a:r>
              <a:endParaRPr b="1" sz="1000">
                <a:solidFill>
                  <a:schemeClr val="dk1"/>
                </a:solidFill>
              </a:endParaRPr>
            </a:p>
          </p:txBody>
        </p:sp>
        <p:sp>
          <p:nvSpPr>
            <p:cNvPr id="540" name="Google Shape;540;p30"/>
            <p:cNvSpPr txBox="1"/>
            <p:nvPr/>
          </p:nvSpPr>
          <p:spPr>
            <a:xfrm>
              <a:off x="4410075" y="2411200"/>
              <a:ext cx="1455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TRANSFORMERS</a:t>
              </a:r>
              <a:endParaRPr b="1" sz="1000">
                <a:solidFill>
                  <a:schemeClr val="dk1"/>
                </a:solidFill>
              </a:endParaRPr>
            </a:p>
          </p:txBody>
        </p:sp>
        <p:sp>
          <p:nvSpPr>
            <p:cNvPr id="541" name="Google Shape;541;p30"/>
            <p:cNvSpPr txBox="1"/>
            <p:nvPr/>
          </p:nvSpPr>
          <p:spPr>
            <a:xfrm>
              <a:off x="4410075" y="3409950"/>
              <a:ext cx="1563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AUTOENCODERS</a:t>
              </a:r>
              <a:endParaRPr b="1" sz="1000">
                <a:solidFill>
                  <a:schemeClr val="dk1"/>
                </a:solidFill>
              </a:endParaRPr>
            </a:p>
          </p:txBody>
        </p:sp>
        <p:sp>
          <p:nvSpPr>
            <p:cNvPr id="542" name="Google Shape;542;p30"/>
            <p:cNvSpPr txBox="1"/>
            <p:nvPr/>
          </p:nvSpPr>
          <p:spPr>
            <a:xfrm>
              <a:off x="6278100" y="593350"/>
              <a:ext cx="2130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DIFFUSION </a:t>
              </a:r>
              <a:r>
                <a:rPr b="1" lang="en" sz="1000">
                  <a:solidFill>
                    <a:schemeClr val="dk1"/>
                  </a:solidFill>
                </a:rPr>
                <a:t>MODELS</a:t>
              </a:r>
              <a:endParaRPr b="1" sz="1000">
                <a:solidFill>
                  <a:schemeClr val="dk1"/>
                </a:solidFill>
              </a:endParaRPr>
            </a:p>
          </p:txBody>
        </p:sp>
        <p:sp>
          <p:nvSpPr>
            <p:cNvPr id="543" name="Google Shape;543;p30"/>
            <p:cNvSpPr txBox="1"/>
            <p:nvPr/>
          </p:nvSpPr>
          <p:spPr>
            <a:xfrm>
              <a:off x="6391275" y="1250500"/>
              <a:ext cx="3000000" cy="10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CONDITIONAL GAN (CCAN)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DEEP CONVOLUTIONAL GAN (DCCAN)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CYCLE CAN</a:t>
              </a:r>
              <a:endParaRPr b="1" sz="1000"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STYLE GAN</a:t>
              </a:r>
              <a:endParaRPr b="1" sz="1000">
                <a:solidFill>
                  <a:schemeClr val="dk1"/>
                </a:solidFill>
              </a:endParaRPr>
            </a:p>
          </p:txBody>
        </p:sp>
        <p:sp>
          <p:nvSpPr>
            <p:cNvPr id="544" name="Google Shape;544;p30"/>
            <p:cNvSpPr txBox="1"/>
            <p:nvPr/>
          </p:nvSpPr>
          <p:spPr>
            <a:xfrm>
              <a:off x="6706875" y="3232950"/>
              <a:ext cx="2047200" cy="5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dk1"/>
                  </a:solidFill>
                </a:rPr>
                <a:t>VARIATIONAL AUTOENCODERS</a:t>
              </a:r>
              <a:endParaRPr b="1" sz="1000">
                <a:solidFill>
                  <a:schemeClr val="dk1"/>
                </a:solidFill>
              </a:endParaRPr>
            </a:p>
          </p:txBody>
        </p:sp>
        <p:sp>
          <p:nvSpPr>
            <p:cNvPr id="545" name="Google Shape;545;p30"/>
            <p:cNvSpPr/>
            <p:nvPr/>
          </p:nvSpPr>
          <p:spPr>
            <a:xfrm>
              <a:off x="1769575" y="1573072"/>
              <a:ext cx="1400175" cy="647725"/>
            </a:xfrm>
            <a:custGeom>
              <a:rect b="b" l="l" r="r" t="t"/>
              <a:pathLst>
                <a:path extrusionOk="0" h="25909" w="56007">
                  <a:moveTo>
                    <a:pt x="56007" y="25909"/>
                  </a:moveTo>
                  <a:cubicBezTo>
                    <a:pt x="54198" y="16140"/>
                    <a:pt x="49644" y="3173"/>
                    <a:pt x="40005" y="763"/>
                  </a:cubicBezTo>
                  <a:cubicBezTo>
                    <a:pt x="27059" y="-2474"/>
                    <a:pt x="12660" y="6507"/>
                    <a:pt x="0" y="2287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sp>
          <p:nvSpPr>
            <p:cNvPr id="546" name="Google Shape;546;p30"/>
            <p:cNvSpPr/>
            <p:nvPr/>
          </p:nvSpPr>
          <p:spPr>
            <a:xfrm>
              <a:off x="1864825" y="2228306"/>
              <a:ext cx="1057275" cy="259175"/>
            </a:xfrm>
            <a:custGeom>
              <a:rect b="b" l="l" r="r" t="t"/>
              <a:pathLst>
                <a:path extrusionOk="0" h="10367" w="42291">
                  <a:moveTo>
                    <a:pt x="42291" y="10368"/>
                  </a:moveTo>
                  <a:cubicBezTo>
                    <a:pt x="34962" y="10368"/>
                    <a:pt x="27310" y="9826"/>
                    <a:pt x="20574" y="6939"/>
                  </a:cubicBezTo>
                  <a:cubicBezTo>
                    <a:pt x="14117" y="4172"/>
                    <a:pt x="3142" y="-3917"/>
                    <a:pt x="0" y="2367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sp>
          <p:nvSpPr>
            <p:cNvPr id="547" name="Google Shape;547;p30"/>
            <p:cNvSpPr/>
            <p:nvPr/>
          </p:nvSpPr>
          <p:spPr>
            <a:xfrm>
              <a:off x="1969600" y="2820875"/>
              <a:ext cx="981075" cy="229150"/>
            </a:xfrm>
            <a:custGeom>
              <a:rect b="b" l="l" r="r" t="t"/>
              <a:pathLst>
                <a:path extrusionOk="0" h="9166" w="39243">
                  <a:moveTo>
                    <a:pt x="39243" y="0"/>
                  </a:moveTo>
                  <a:cubicBezTo>
                    <a:pt x="29746" y="9497"/>
                    <a:pt x="13431" y="9144"/>
                    <a:pt x="0" y="9144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sp>
          <p:nvSpPr>
            <p:cNvPr id="548" name="Google Shape;548;p30"/>
            <p:cNvSpPr/>
            <p:nvPr/>
          </p:nvSpPr>
          <p:spPr>
            <a:xfrm>
              <a:off x="1655275" y="2973275"/>
              <a:ext cx="1466850" cy="840950"/>
            </a:xfrm>
            <a:custGeom>
              <a:rect b="b" l="l" r="r" t="t"/>
              <a:pathLst>
                <a:path extrusionOk="0" h="33638" w="58674">
                  <a:moveTo>
                    <a:pt x="58674" y="0"/>
                  </a:moveTo>
                  <a:cubicBezTo>
                    <a:pt x="54184" y="1796"/>
                    <a:pt x="52964" y="7985"/>
                    <a:pt x="51435" y="12573"/>
                  </a:cubicBezTo>
                  <a:cubicBezTo>
                    <a:pt x="49652" y="17923"/>
                    <a:pt x="45933" y="22766"/>
                    <a:pt x="41529" y="26289"/>
                  </a:cubicBezTo>
                  <a:cubicBezTo>
                    <a:pt x="30556" y="35067"/>
                    <a:pt x="14052" y="33528"/>
                    <a:pt x="0" y="33528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sp>
          <p:nvSpPr>
            <p:cNvPr id="549" name="Google Shape;549;p30"/>
            <p:cNvSpPr/>
            <p:nvPr/>
          </p:nvSpPr>
          <p:spPr>
            <a:xfrm>
              <a:off x="3617425" y="1544525"/>
              <a:ext cx="819150" cy="742950"/>
            </a:xfrm>
            <a:custGeom>
              <a:rect b="b" l="l" r="r" t="t"/>
              <a:pathLst>
                <a:path extrusionOk="0" h="29718" w="32766">
                  <a:moveTo>
                    <a:pt x="0" y="29718"/>
                  </a:moveTo>
                  <a:cubicBezTo>
                    <a:pt x="6594" y="16530"/>
                    <a:pt x="18021" y="0"/>
                    <a:pt x="32766" y="0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sp>
          <p:nvSpPr>
            <p:cNvPr id="550" name="Google Shape;550;p30"/>
            <p:cNvSpPr/>
            <p:nvPr/>
          </p:nvSpPr>
          <p:spPr>
            <a:xfrm>
              <a:off x="3769825" y="2582750"/>
              <a:ext cx="619125" cy="19050"/>
            </a:xfrm>
            <a:custGeom>
              <a:rect b="b" l="l" r="r" t="t"/>
              <a:pathLst>
                <a:path extrusionOk="0" h="762" w="24765">
                  <a:moveTo>
                    <a:pt x="0" y="762"/>
                  </a:moveTo>
                  <a:cubicBezTo>
                    <a:pt x="8259" y="762"/>
                    <a:pt x="16506" y="0"/>
                    <a:pt x="24765" y="0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sp>
          <p:nvSpPr>
            <p:cNvPr id="551" name="Google Shape;551;p30"/>
            <p:cNvSpPr/>
            <p:nvPr/>
          </p:nvSpPr>
          <p:spPr>
            <a:xfrm>
              <a:off x="3607900" y="2925650"/>
              <a:ext cx="819150" cy="657225"/>
            </a:xfrm>
            <a:custGeom>
              <a:rect b="b" l="l" r="r" t="t"/>
              <a:pathLst>
                <a:path extrusionOk="0" h="26289" w="32766">
                  <a:moveTo>
                    <a:pt x="0" y="0"/>
                  </a:moveTo>
                  <a:cubicBezTo>
                    <a:pt x="4174" y="7304"/>
                    <a:pt x="5462" y="17050"/>
                    <a:pt x="12192" y="22098"/>
                  </a:cubicBezTo>
                  <a:cubicBezTo>
                    <a:pt x="17791" y="26297"/>
                    <a:pt x="26506" y="23159"/>
                    <a:pt x="32766" y="26289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sp>
          <p:nvSpPr>
            <p:cNvPr id="552" name="Google Shape;552;p30"/>
            <p:cNvSpPr/>
            <p:nvPr/>
          </p:nvSpPr>
          <p:spPr>
            <a:xfrm>
              <a:off x="5398275" y="1389421"/>
              <a:ext cx="1047750" cy="194450"/>
            </a:xfrm>
            <a:custGeom>
              <a:rect b="b" l="l" r="r" t="t"/>
              <a:pathLst>
                <a:path extrusionOk="0" h="7778" w="41910">
                  <a:moveTo>
                    <a:pt x="0" y="7778"/>
                  </a:moveTo>
                  <a:cubicBezTo>
                    <a:pt x="9352" y="4661"/>
                    <a:pt x="18816" y="1552"/>
                    <a:pt x="28575" y="158"/>
                  </a:cubicBezTo>
                  <a:cubicBezTo>
                    <a:pt x="33004" y="-475"/>
                    <a:pt x="37436" y="1682"/>
                    <a:pt x="41910" y="1682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sp>
          <p:nvSpPr>
            <p:cNvPr id="553" name="Google Shape;553;p30"/>
            <p:cNvSpPr/>
            <p:nvPr/>
          </p:nvSpPr>
          <p:spPr>
            <a:xfrm>
              <a:off x="5436375" y="1544942"/>
              <a:ext cx="1000125" cy="77025"/>
            </a:xfrm>
            <a:custGeom>
              <a:rect b="b" l="l" r="r" t="t"/>
              <a:pathLst>
                <a:path extrusionOk="0" h="3081" w="40005">
                  <a:moveTo>
                    <a:pt x="0" y="3081"/>
                  </a:moveTo>
                  <a:cubicBezTo>
                    <a:pt x="13336" y="3081"/>
                    <a:pt x="28077" y="-3264"/>
                    <a:pt x="40005" y="2700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sp>
          <p:nvSpPr>
            <p:cNvPr id="554" name="Google Shape;554;p30"/>
            <p:cNvSpPr/>
            <p:nvPr/>
          </p:nvSpPr>
          <p:spPr>
            <a:xfrm>
              <a:off x="5464950" y="1698175"/>
              <a:ext cx="971550" cy="142875"/>
            </a:xfrm>
            <a:custGeom>
              <a:rect b="b" l="l" r="r" t="t"/>
              <a:pathLst>
                <a:path extrusionOk="0" h="5715" w="38862">
                  <a:moveTo>
                    <a:pt x="0" y="0"/>
                  </a:moveTo>
                  <a:cubicBezTo>
                    <a:pt x="12782" y="2840"/>
                    <a:pt x="25769" y="5715"/>
                    <a:pt x="38862" y="5715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sp>
          <p:nvSpPr>
            <p:cNvPr id="555" name="Google Shape;555;p30"/>
            <p:cNvSpPr/>
            <p:nvPr/>
          </p:nvSpPr>
          <p:spPr>
            <a:xfrm>
              <a:off x="5445900" y="1755325"/>
              <a:ext cx="971550" cy="310025"/>
            </a:xfrm>
            <a:custGeom>
              <a:rect b="b" l="l" r="r" t="t"/>
              <a:pathLst>
                <a:path extrusionOk="0" h="12401" w="38862">
                  <a:moveTo>
                    <a:pt x="0" y="0"/>
                  </a:moveTo>
                  <a:cubicBezTo>
                    <a:pt x="12472" y="4989"/>
                    <a:pt x="26847" y="16676"/>
                    <a:pt x="38862" y="10668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sp>
        <p:sp>
          <p:nvSpPr>
            <p:cNvPr id="556" name="Google Shape;556;p30"/>
            <p:cNvSpPr/>
            <p:nvPr/>
          </p:nvSpPr>
          <p:spPr>
            <a:xfrm>
              <a:off x="5703075" y="3476475"/>
              <a:ext cx="933450" cy="106400"/>
            </a:xfrm>
            <a:custGeom>
              <a:rect b="b" l="l" r="r" t="t"/>
              <a:pathLst>
                <a:path extrusionOk="0" h="4256" w="37338">
                  <a:moveTo>
                    <a:pt x="0" y="3810"/>
                  </a:moveTo>
                  <a:cubicBezTo>
                    <a:pt x="12511" y="3810"/>
                    <a:pt x="26148" y="5595"/>
                    <a:pt x="37338" y="0"/>
                  </a:cubicBezTo>
                </a:path>
              </a:pathLst>
            </a:cu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91633"/>
        </a:solidFill>
      </p:bgPr>
    </p:bg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1"/>
          <p:cNvSpPr txBox="1"/>
          <p:nvPr/>
        </p:nvSpPr>
        <p:spPr>
          <a:xfrm>
            <a:off x="2373900" y="2022150"/>
            <a:ext cx="4396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ADVANTAGES &amp; </a:t>
            </a:r>
            <a:r>
              <a:rPr lang="en" sz="3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APPLICATIONS</a:t>
            </a:r>
            <a:r>
              <a:rPr lang="en" sz="3000">
                <a:solidFill>
                  <a:schemeClr val="lt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endParaRPr sz="3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32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NETWORKS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567" name="Google Shape;567;p32"/>
          <p:cNvGrpSpPr/>
          <p:nvPr/>
        </p:nvGrpSpPr>
        <p:grpSpPr>
          <a:xfrm>
            <a:off x="758849" y="593358"/>
            <a:ext cx="2547091" cy="284395"/>
            <a:chOff x="304400" y="1038050"/>
            <a:chExt cx="5191788" cy="781949"/>
          </a:xfrm>
        </p:grpSpPr>
        <p:sp>
          <p:nvSpPr>
            <p:cNvPr id="568" name="Google Shape;568;p32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32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100">
                  <a:solidFill>
                    <a:srgbClr val="140A14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ADVANTAGES</a:t>
              </a:r>
              <a:endParaRPr b="1" sz="1100">
                <a:solidFill>
                  <a:srgbClr val="140A14"/>
                </a:solidFill>
                <a:latin typeface="Proxima Nova"/>
                <a:ea typeface="Proxima Nova"/>
                <a:cs typeface="Proxima Nova"/>
                <a:sym typeface="Proxima Nova"/>
              </a:endParaRPr>
            </a:p>
          </p:txBody>
        </p:sp>
      </p:grpSp>
      <p:sp>
        <p:nvSpPr>
          <p:cNvPr id="570" name="Google Shape;570;p32"/>
          <p:cNvSpPr txBox="1"/>
          <p:nvPr/>
        </p:nvSpPr>
        <p:spPr>
          <a:xfrm>
            <a:off x="591702" y="1388100"/>
            <a:ext cx="8139300" cy="24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 Medium"/>
              <a:buChar char="❖"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Adaptability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: Learns complex or undefined relationships between inputs and outputs.  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 Medium"/>
              <a:buChar char="❖"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Pattern Recognition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: Excels in tasks like audio/image recognition and natural language processing.  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 Medium"/>
              <a:buChar char="❖"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Parallel Processing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: Processes multiple tasks simultaneously for faster computations.  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-317500" lvl="0" marL="45720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 Medium"/>
              <a:buChar char="❖"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Non-Linearity</a:t>
            </a:r>
            <a:r>
              <a:rPr lang="en">
                <a:latin typeface="Montserrat Medium"/>
                <a:ea typeface="Montserrat Medium"/>
                <a:cs typeface="Montserrat Medium"/>
                <a:sym typeface="Montserrat Medium"/>
              </a:rPr>
              <a:t>: Models complex relationships using non-linear activation functions.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3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NETWORKS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576" name="Google Shape;576;p33"/>
          <p:cNvGrpSpPr/>
          <p:nvPr/>
        </p:nvGrpSpPr>
        <p:grpSpPr>
          <a:xfrm>
            <a:off x="758849" y="593358"/>
            <a:ext cx="2547091" cy="284395"/>
            <a:chOff x="304400" y="1038050"/>
            <a:chExt cx="5191788" cy="781949"/>
          </a:xfrm>
        </p:grpSpPr>
        <p:sp>
          <p:nvSpPr>
            <p:cNvPr id="577" name="Google Shape;577;p33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33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APPLICATIONS</a:t>
              </a:r>
              <a:endParaRPr sz="1000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579" name="Google Shape;579;p33"/>
          <p:cNvSpPr txBox="1"/>
          <p:nvPr/>
        </p:nvSpPr>
        <p:spPr>
          <a:xfrm>
            <a:off x="1325325" y="1264025"/>
            <a:ext cx="319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 SemiBold"/>
                <a:ea typeface="Montserrat SemiBold"/>
                <a:cs typeface="Montserrat SemiBold"/>
                <a:sym typeface="Montserrat SemiBold"/>
              </a:rPr>
              <a:t>Neural networks analyze images and videos to detect objects, recognize faces, and enable advanced visual tasks.</a:t>
            </a:r>
            <a:endParaRPr sz="11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80" name="Google Shape;580;p33"/>
          <p:cNvSpPr txBox="1"/>
          <p:nvPr/>
        </p:nvSpPr>
        <p:spPr>
          <a:xfrm>
            <a:off x="5151876" y="1264019"/>
            <a:ext cx="2811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Montserrat SemiBold"/>
                <a:ea typeface="Montserrat SemiBold"/>
                <a:cs typeface="Montserrat SemiBold"/>
                <a:sym typeface="Montserrat SemiBold"/>
              </a:rPr>
              <a:t>They convert spoken language into text, enabling voice assistants and real-time transcription.</a:t>
            </a:r>
            <a:endParaRPr sz="11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81" name="Google Shape;581;p33"/>
          <p:cNvSpPr txBox="1"/>
          <p:nvPr/>
        </p:nvSpPr>
        <p:spPr>
          <a:xfrm>
            <a:off x="1325324" y="963044"/>
            <a:ext cx="281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COMPUTER VISION</a:t>
            </a:r>
            <a:endParaRPr b="1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82" name="Google Shape;582;p33"/>
          <p:cNvSpPr txBox="1"/>
          <p:nvPr/>
        </p:nvSpPr>
        <p:spPr>
          <a:xfrm>
            <a:off x="5151849" y="963044"/>
            <a:ext cx="281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SPEECH RECOGNITION</a:t>
            </a:r>
            <a:endParaRPr b="1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583" name="Google Shape;583;p33"/>
          <p:cNvCxnSpPr/>
          <p:nvPr/>
        </p:nvCxnSpPr>
        <p:spPr>
          <a:xfrm>
            <a:off x="4999463" y="994069"/>
            <a:ext cx="3600" cy="913800"/>
          </a:xfrm>
          <a:prstGeom prst="straightConnector1">
            <a:avLst/>
          </a:prstGeom>
          <a:noFill/>
          <a:ln cap="flat" cmpd="sng" w="28575">
            <a:solidFill>
              <a:srgbClr val="691633"/>
            </a:solidFill>
            <a:prstDash val="solid"/>
            <a:round/>
            <a:headEnd len="med" w="med" type="none"/>
            <a:tailEnd len="med" w="med" type="none"/>
          </a:ln>
          <a:effectLst>
            <a:outerShdw blurRad="200025" rotWithShape="0" algn="bl" dir="5400000" dist="19050">
              <a:srgbClr val="AAFDFF">
                <a:alpha val="50000"/>
              </a:srgbClr>
            </a:outerShdw>
          </a:effectLst>
        </p:spPr>
      </p:cxnSp>
      <p:pic>
        <p:nvPicPr>
          <p:cNvPr id="584" name="Google Shape;58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075" y="3162265"/>
            <a:ext cx="1491024" cy="479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38605" y="3023525"/>
            <a:ext cx="960870" cy="913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8126" y="2865450"/>
            <a:ext cx="1850076" cy="98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10138" y="4115968"/>
            <a:ext cx="1668464" cy="479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651098" y="3023525"/>
            <a:ext cx="1152829" cy="913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9" name="Google Shape;589;p33"/>
          <p:cNvCxnSpPr/>
          <p:nvPr/>
        </p:nvCxnSpPr>
        <p:spPr>
          <a:xfrm>
            <a:off x="1164613" y="994069"/>
            <a:ext cx="3600" cy="913800"/>
          </a:xfrm>
          <a:prstGeom prst="straightConnector1">
            <a:avLst/>
          </a:prstGeom>
          <a:noFill/>
          <a:ln cap="flat" cmpd="sng" w="28575">
            <a:solidFill>
              <a:srgbClr val="691633"/>
            </a:solidFill>
            <a:prstDash val="solid"/>
            <a:round/>
            <a:headEnd len="med" w="med" type="none"/>
            <a:tailEnd len="med" w="med" type="none"/>
          </a:ln>
          <a:effectLst>
            <a:outerShdw blurRad="200025" rotWithShape="0" algn="bl" dir="5400000" dist="19050">
              <a:srgbClr val="AAFDFF">
                <a:alpha val="50000"/>
              </a:srgbClr>
            </a:outerShdw>
          </a:effectLst>
        </p:spPr>
      </p:cxnSp>
      <p:sp>
        <p:nvSpPr>
          <p:cNvPr id="590" name="Google Shape;590;p33"/>
          <p:cNvSpPr txBox="1"/>
          <p:nvPr/>
        </p:nvSpPr>
        <p:spPr>
          <a:xfrm>
            <a:off x="1325325" y="2330825"/>
            <a:ext cx="3196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Neural networks process and understand human language for translation, search, and conversational AI.</a:t>
            </a:r>
            <a:endParaRPr sz="11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91" name="Google Shape;591;p33"/>
          <p:cNvSpPr txBox="1"/>
          <p:nvPr/>
        </p:nvSpPr>
        <p:spPr>
          <a:xfrm>
            <a:off x="5151876" y="2330819"/>
            <a:ext cx="2811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They predict user preferences to provide personalized suggestions for content or products.</a:t>
            </a:r>
            <a:endParaRPr sz="11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92" name="Google Shape;592;p33"/>
          <p:cNvSpPr txBox="1"/>
          <p:nvPr/>
        </p:nvSpPr>
        <p:spPr>
          <a:xfrm>
            <a:off x="1325325" y="2029850"/>
            <a:ext cx="3510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NATURAL LANGUAGE PROCESSING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93" name="Google Shape;593;p33"/>
          <p:cNvSpPr txBox="1"/>
          <p:nvPr/>
        </p:nvSpPr>
        <p:spPr>
          <a:xfrm>
            <a:off x="5151849" y="2029844"/>
            <a:ext cx="2811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RECOMMENDATION ENGINES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594" name="Google Shape;594;p33"/>
          <p:cNvCxnSpPr/>
          <p:nvPr/>
        </p:nvCxnSpPr>
        <p:spPr>
          <a:xfrm>
            <a:off x="4999463" y="2060869"/>
            <a:ext cx="3600" cy="913800"/>
          </a:xfrm>
          <a:prstGeom prst="straightConnector1">
            <a:avLst/>
          </a:prstGeom>
          <a:noFill/>
          <a:ln cap="flat" cmpd="sng" w="28575">
            <a:solidFill>
              <a:srgbClr val="691633"/>
            </a:solidFill>
            <a:prstDash val="solid"/>
            <a:round/>
            <a:headEnd len="med" w="med" type="none"/>
            <a:tailEnd len="med" w="med" type="none"/>
          </a:ln>
          <a:effectLst>
            <a:outerShdw blurRad="200025" rotWithShape="0" algn="bl" dir="5400000" dist="19050">
              <a:srgbClr val="AAFDFF">
                <a:alpha val="50000"/>
              </a:srgbClr>
            </a:outerShdw>
          </a:effectLst>
        </p:spPr>
      </p:cxnSp>
      <p:cxnSp>
        <p:nvCxnSpPr>
          <p:cNvPr id="595" name="Google Shape;595;p33"/>
          <p:cNvCxnSpPr/>
          <p:nvPr/>
        </p:nvCxnSpPr>
        <p:spPr>
          <a:xfrm>
            <a:off x="1164613" y="2060869"/>
            <a:ext cx="3600" cy="913800"/>
          </a:xfrm>
          <a:prstGeom prst="straightConnector1">
            <a:avLst/>
          </a:prstGeom>
          <a:noFill/>
          <a:ln cap="flat" cmpd="sng" w="28575">
            <a:solidFill>
              <a:srgbClr val="691633"/>
            </a:solidFill>
            <a:prstDash val="solid"/>
            <a:round/>
            <a:headEnd len="med" w="med" type="none"/>
            <a:tailEnd len="med" w="med" type="none"/>
          </a:ln>
          <a:effectLst>
            <a:outerShdw blurRad="200025" rotWithShape="0" algn="bl" dir="5400000" dist="19050">
              <a:srgbClr val="AAFDFF">
                <a:alpha val="50000"/>
              </a:srgbClr>
            </a:outerShdw>
          </a:effectLst>
        </p:spPr>
      </p:cxnSp>
      <p:pic>
        <p:nvPicPr>
          <p:cNvPr id="596" name="Google Shape;596;p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42576" y="3704551"/>
            <a:ext cx="1096023" cy="1096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91633"/>
        </a:soli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4"/>
          <p:cNvSpPr txBox="1"/>
          <p:nvPr/>
        </p:nvSpPr>
        <p:spPr>
          <a:xfrm>
            <a:off x="1879350" y="1669800"/>
            <a:ext cx="5385300" cy="18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ETHICAL IMPLICATION, LIMITATIONS &amp; CHALLENGES</a:t>
            </a:r>
            <a:endParaRPr sz="3000">
              <a:solidFill>
                <a:schemeClr val="lt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5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NETWORKS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607" name="Google Shape;607;p35"/>
          <p:cNvGrpSpPr/>
          <p:nvPr/>
        </p:nvGrpSpPr>
        <p:grpSpPr>
          <a:xfrm>
            <a:off x="758849" y="593358"/>
            <a:ext cx="2547091" cy="284395"/>
            <a:chOff x="304400" y="1038050"/>
            <a:chExt cx="5191788" cy="781949"/>
          </a:xfrm>
        </p:grpSpPr>
        <p:sp>
          <p:nvSpPr>
            <p:cNvPr id="608" name="Google Shape;608;p35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35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25333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b="1" lang="en" sz="1000">
                  <a:solidFill>
                    <a:schemeClr val="dk1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IMPLICATIONS AND LIMITATIONS</a:t>
              </a:r>
              <a:endParaRPr sz="1000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610" name="Google Shape;610;p35"/>
          <p:cNvSpPr txBox="1"/>
          <p:nvPr/>
        </p:nvSpPr>
        <p:spPr>
          <a:xfrm>
            <a:off x="666675" y="932025"/>
            <a:ext cx="498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ETHICAL IMPLICATIONS AND LIMITATIONS</a:t>
            </a:r>
            <a:endParaRPr b="1" sz="1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descr="preencoded.png" id="611" name="Google Shape;61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850" y="1393725"/>
            <a:ext cx="2467623" cy="14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35"/>
          <p:cNvSpPr/>
          <p:nvPr/>
        </p:nvSpPr>
        <p:spPr>
          <a:xfrm>
            <a:off x="758857" y="2960463"/>
            <a:ext cx="25257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lang="en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Autonomy and Individuality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5"/>
          <p:cNvSpPr/>
          <p:nvPr/>
        </p:nvSpPr>
        <p:spPr>
          <a:xfrm>
            <a:off x="758850" y="3231935"/>
            <a:ext cx="2467800" cy="12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" sz="1000">
                <a:solidFill>
                  <a:srgbClr val="272525"/>
                </a:solidFill>
              </a:rPr>
              <a:t>Neural networks are increasingly used in AI systems that make decisions impacting hiring, lending, and healthcare. Over-reliance on these automated systems risks diminishing human autonomy in decision-making.</a:t>
            </a:r>
            <a:endParaRPr sz="1000">
              <a:solidFill>
                <a:srgbClr val="000000"/>
              </a:solidFill>
            </a:endParaRPr>
          </a:p>
        </p:txBody>
      </p:sp>
      <p:pic>
        <p:nvPicPr>
          <p:cNvPr descr="preencoded.png" id="614" name="Google Shape;61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0171" y="1393725"/>
            <a:ext cx="2467694" cy="1409866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35"/>
          <p:cNvSpPr/>
          <p:nvPr/>
        </p:nvSpPr>
        <p:spPr>
          <a:xfrm>
            <a:off x="3430176" y="2960525"/>
            <a:ext cx="2122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lang="en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Responsibility Gaps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5"/>
          <p:cNvSpPr/>
          <p:nvPr/>
        </p:nvSpPr>
        <p:spPr>
          <a:xfrm>
            <a:off x="3430171" y="3232001"/>
            <a:ext cx="2467800" cy="12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" sz="1000">
                <a:solidFill>
                  <a:srgbClr val="272525"/>
                </a:solidFill>
              </a:rPr>
              <a:t>Determining accountability for decisions made by neural networks remains challenging. This is particularly apparent in cases like autonomous vehicle accidents where responsibility is unclear.</a:t>
            </a:r>
            <a:endParaRPr sz="1000">
              <a:solidFill>
                <a:srgbClr val="000000"/>
              </a:solidFill>
            </a:endParaRPr>
          </a:p>
        </p:txBody>
      </p:sp>
      <p:pic>
        <p:nvPicPr>
          <p:cNvPr descr="preencoded.png" id="617" name="Google Shape;617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1563" y="1393725"/>
            <a:ext cx="2467623" cy="14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35"/>
          <p:cNvSpPr/>
          <p:nvPr/>
        </p:nvSpPr>
        <p:spPr>
          <a:xfrm>
            <a:off x="6101550" y="2960463"/>
            <a:ext cx="2122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b="1" lang="en" sz="140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Societal Implications</a:t>
            </a:r>
            <a:endParaRPr sz="1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5"/>
          <p:cNvSpPr/>
          <p:nvPr/>
        </p:nvSpPr>
        <p:spPr>
          <a:xfrm>
            <a:off x="6101550" y="3231925"/>
            <a:ext cx="2547000" cy="12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Clr>
                <a:srgbClr val="272525"/>
              </a:buClr>
              <a:buSzPts val="1100"/>
              <a:buFont typeface="Inter"/>
              <a:buNone/>
            </a:pPr>
            <a:r>
              <a:rPr lang="en" sz="1000">
                <a:solidFill>
                  <a:srgbClr val="272525"/>
                </a:solidFill>
              </a:rPr>
              <a:t>Widespread AI adoption has the potential to significantly disrupt various aspects of society, including job markets, privacy, and socio-economic structures. Automation, for instance, may lead to widespread unemployment.</a:t>
            </a:r>
            <a:endParaRPr sz="1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36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NETWORKS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625" name="Google Shape;625;p36"/>
          <p:cNvGrpSpPr/>
          <p:nvPr/>
        </p:nvGrpSpPr>
        <p:grpSpPr>
          <a:xfrm>
            <a:off x="758849" y="593358"/>
            <a:ext cx="2547091" cy="284395"/>
            <a:chOff x="304400" y="1038050"/>
            <a:chExt cx="5191788" cy="781949"/>
          </a:xfrm>
        </p:grpSpPr>
        <p:sp>
          <p:nvSpPr>
            <p:cNvPr id="626" name="Google Shape;626;p36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36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CHALLENGES</a:t>
              </a:r>
              <a:endParaRPr sz="1000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628" name="Google Shape;628;p36"/>
          <p:cNvSpPr txBox="1"/>
          <p:nvPr/>
        </p:nvSpPr>
        <p:spPr>
          <a:xfrm>
            <a:off x="666675" y="932025"/>
            <a:ext cx="4783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BLACK-BOX NATURE AND CHALLENGES</a:t>
            </a:r>
            <a:endParaRPr sz="1800">
              <a:solidFill>
                <a:schemeClr val="dk1"/>
              </a:solidFill>
            </a:endParaRPr>
          </a:p>
        </p:txBody>
      </p:sp>
      <p:grpSp>
        <p:nvGrpSpPr>
          <p:cNvPr id="629" name="Google Shape;629;p36"/>
          <p:cNvGrpSpPr/>
          <p:nvPr/>
        </p:nvGrpSpPr>
        <p:grpSpPr>
          <a:xfrm>
            <a:off x="980924" y="1427458"/>
            <a:ext cx="2547091" cy="284395"/>
            <a:chOff x="304400" y="1038050"/>
            <a:chExt cx="5191788" cy="781949"/>
          </a:xfrm>
        </p:grpSpPr>
        <p:sp>
          <p:nvSpPr>
            <p:cNvPr id="630" name="Google Shape;630;p36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36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27027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200"/>
                <a:buFont typeface="Inter"/>
                <a:buNone/>
              </a:pPr>
              <a:r>
                <a:rPr b="1" lang="en" sz="1300">
                  <a:solidFill>
                    <a:srgbClr val="272525"/>
                  </a:solidFill>
                </a:rPr>
                <a:t>Black-Box Nature</a:t>
              </a:r>
              <a:endParaRPr sz="1300">
                <a:solidFill>
                  <a:srgbClr val="140A14"/>
                </a:solidFill>
              </a:endParaRPr>
            </a:p>
          </p:txBody>
        </p:sp>
      </p:grpSp>
      <p:cxnSp>
        <p:nvCxnSpPr>
          <p:cNvPr id="632" name="Google Shape;632;p36"/>
          <p:cNvCxnSpPr/>
          <p:nvPr/>
        </p:nvCxnSpPr>
        <p:spPr>
          <a:xfrm flipH="1">
            <a:off x="703575" y="1432350"/>
            <a:ext cx="4500" cy="307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36"/>
          <p:cNvCxnSpPr>
            <a:endCxn id="631" idx="1"/>
          </p:cNvCxnSpPr>
          <p:nvPr/>
        </p:nvCxnSpPr>
        <p:spPr>
          <a:xfrm>
            <a:off x="718424" y="1544888"/>
            <a:ext cx="262500" cy="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34" name="Google Shape;634;p36"/>
          <p:cNvGrpSpPr/>
          <p:nvPr/>
        </p:nvGrpSpPr>
        <p:grpSpPr>
          <a:xfrm>
            <a:off x="980924" y="2396583"/>
            <a:ext cx="2547091" cy="284395"/>
            <a:chOff x="304400" y="1038050"/>
            <a:chExt cx="5191788" cy="781949"/>
          </a:xfrm>
        </p:grpSpPr>
        <p:sp>
          <p:nvSpPr>
            <p:cNvPr id="635" name="Google Shape;635;p36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36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27027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200"/>
                <a:buFont typeface="Inter"/>
                <a:buNone/>
              </a:pPr>
              <a:r>
                <a:rPr b="1" lang="en" sz="1300">
                  <a:solidFill>
                    <a:srgbClr val="272525"/>
                  </a:solidFill>
                </a:rPr>
                <a:t>Computational Costs</a:t>
              </a:r>
              <a:endParaRPr sz="1300">
                <a:solidFill>
                  <a:srgbClr val="140A14"/>
                </a:solidFill>
              </a:endParaRPr>
            </a:p>
          </p:txBody>
        </p:sp>
      </p:grpSp>
      <p:cxnSp>
        <p:nvCxnSpPr>
          <p:cNvPr id="637" name="Google Shape;637;p36"/>
          <p:cNvCxnSpPr>
            <a:endCxn id="636" idx="1"/>
          </p:cNvCxnSpPr>
          <p:nvPr/>
        </p:nvCxnSpPr>
        <p:spPr>
          <a:xfrm>
            <a:off x="718424" y="2514013"/>
            <a:ext cx="262500" cy="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38" name="Google Shape;638;p36"/>
          <p:cNvGrpSpPr/>
          <p:nvPr/>
        </p:nvGrpSpPr>
        <p:grpSpPr>
          <a:xfrm>
            <a:off x="980924" y="3441908"/>
            <a:ext cx="2547091" cy="284395"/>
            <a:chOff x="304400" y="1038050"/>
            <a:chExt cx="5191788" cy="781949"/>
          </a:xfrm>
        </p:grpSpPr>
        <p:sp>
          <p:nvSpPr>
            <p:cNvPr id="639" name="Google Shape;639;p36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36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27027"/>
                </a:lnSpc>
                <a:spcBef>
                  <a:spcPts val="0"/>
                </a:spcBef>
                <a:spcAft>
                  <a:spcPts val="0"/>
                </a:spcAft>
                <a:buClr>
                  <a:srgbClr val="272525"/>
                </a:buClr>
                <a:buSzPts val="1200"/>
                <a:buFont typeface="Inter"/>
                <a:buNone/>
              </a:pPr>
              <a:r>
                <a:rPr b="1" lang="en" sz="1300">
                  <a:solidFill>
                    <a:srgbClr val="272525"/>
                  </a:solidFill>
                </a:rPr>
                <a:t>Bias in Training Data</a:t>
              </a:r>
              <a:endParaRPr sz="1300">
                <a:solidFill>
                  <a:srgbClr val="140A14"/>
                </a:solidFill>
              </a:endParaRPr>
            </a:p>
          </p:txBody>
        </p:sp>
      </p:grpSp>
      <p:cxnSp>
        <p:nvCxnSpPr>
          <p:cNvPr id="641" name="Google Shape;641;p36"/>
          <p:cNvCxnSpPr>
            <a:endCxn id="640" idx="1"/>
          </p:cNvCxnSpPr>
          <p:nvPr/>
        </p:nvCxnSpPr>
        <p:spPr>
          <a:xfrm>
            <a:off x="718424" y="3559338"/>
            <a:ext cx="262500" cy="5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42" name="Google Shape;642;p36"/>
          <p:cNvSpPr txBox="1"/>
          <p:nvPr/>
        </p:nvSpPr>
        <p:spPr>
          <a:xfrm>
            <a:off x="980925" y="1696125"/>
            <a:ext cx="5899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" sz="1000">
                <a:solidFill>
                  <a:srgbClr val="272525"/>
                </a:solidFill>
              </a:rPr>
              <a:t>NNs are often criticized for their opacity—difficult to interpret or explain how they arrive at decisions. This "black-box" nature undermines trust, especially in high-stakes domains like healthcare and law enforcement.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643" name="Google Shape;643;p36"/>
          <p:cNvSpPr txBox="1"/>
          <p:nvPr/>
        </p:nvSpPr>
        <p:spPr>
          <a:xfrm>
            <a:off x="980925" y="2649925"/>
            <a:ext cx="5582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525"/>
                </a:solidFill>
              </a:rPr>
              <a:t>Training deep NNs requires vast computational resources, leading to high energy consumption and carbon footprint. Example: Training GPT-3 required 1,287 MWh of electricity and emitted 552 metric tons of CO₂.</a:t>
            </a:r>
            <a:endParaRPr sz="1000">
              <a:solidFill>
                <a:srgbClr val="272525"/>
              </a:solidFill>
            </a:endParaRPr>
          </a:p>
        </p:txBody>
      </p:sp>
      <p:sp>
        <p:nvSpPr>
          <p:cNvPr id="644" name="Google Shape;644;p36"/>
          <p:cNvSpPr txBox="1"/>
          <p:nvPr/>
        </p:nvSpPr>
        <p:spPr>
          <a:xfrm>
            <a:off x="980925" y="3780875"/>
            <a:ext cx="5812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272525"/>
                </a:solidFill>
              </a:rPr>
              <a:t>If training data is biased, NNs perpetuate and even amplify those biases. Example: Facial recognition systems often perform poorly on minority groups due to underrepresentation in training datasets.</a:t>
            </a:r>
            <a:endParaRPr sz="1000">
              <a:solidFill>
                <a:srgbClr val="272525"/>
              </a:solidFill>
            </a:endParaRPr>
          </a:p>
        </p:txBody>
      </p:sp>
      <p:pic>
        <p:nvPicPr>
          <p:cNvPr descr="preencoded.png" id="645" name="Google Shape;64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2550" y="1578350"/>
            <a:ext cx="2547099" cy="254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7"/>
          <p:cNvSpPr txBox="1"/>
          <p:nvPr/>
        </p:nvSpPr>
        <p:spPr>
          <a:xfrm>
            <a:off x="2108850" y="2094600"/>
            <a:ext cx="4926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691633"/>
                </a:solidFill>
              </a:rPr>
              <a:t>T</a:t>
            </a:r>
            <a:r>
              <a:rPr b="1" lang="en" sz="5000">
                <a:solidFill>
                  <a:schemeClr val="dk1"/>
                </a:solidFill>
              </a:rPr>
              <a:t>HANK YOU!</a:t>
            </a:r>
            <a:endParaRPr b="1" sz="5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8"/>
          <p:cNvSpPr/>
          <p:nvPr/>
        </p:nvSpPr>
        <p:spPr>
          <a:xfrm>
            <a:off x="980926" y="348525"/>
            <a:ext cx="2047200" cy="244800"/>
          </a:xfrm>
          <a:prstGeom prst="roundRect">
            <a:avLst>
              <a:gd fmla="val 16667" name="adj"/>
            </a:avLst>
          </a:prstGeom>
          <a:solidFill>
            <a:srgbClr val="6916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rgbClr val="FFFFFF"/>
                </a:solidFill>
                <a:latin typeface="Proxima Nova Extrabold"/>
                <a:ea typeface="Proxima Nova Extrabold"/>
                <a:cs typeface="Proxima Nova Extrabold"/>
                <a:sym typeface="Proxima Nova Extrabold"/>
              </a:rPr>
              <a:t>NEURAL NETWORKS</a:t>
            </a:r>
            <a:endParaRPr b="0" i="0" sz="1100" u="none" cap="none" strike="noStrike">
              <a:solidFill>
                <a:srgbClr val="FFFFFF"/>
              </a:solidFill>
              <a:latin typeface="Proxima Nova Extrabold"/>
              <a:ea typeface="Proxima Nova Extrabold"/>
              <a:cs typeface="Proxima Nova Extrabold"/>
              <a:sym typeface="Proxima Nova Extrabold"/>
            </a:endParaRPr>
          </a:p>
        </p:txBody>
      </p:sp>
      <p:grpSp>
        <p:nvGrpSpPr>
          <p:cNvPr id="656" name="Google Shape;656;p38"/>
          <p:cNvGrpSpPr/>
          <p:nvPr/>
        </p:nvGrpSpPr>
        <p:grpSpPr>
          <a:xfrm>
            <a:off x="758849" y="593358"/>
            <a:ext cx="2547091" cy="284395"/>
            <a:chOff x="304400" y="1038050"/>
            <a:chExt cx="5191788" cy="781949"/>
          </a:xfrm>
        </p:grpSpPr>
        <p:sp>
          <p:nvSpPr>
            <p:cNvPr id="657" name="Google Shape;657;p38"/>
            <p:cNvSpPr/>
            <p:nvPr/>
          </p:nvSpPr>
          <p:spPr>
            <a:xfrm>
              <a:off x="407588" y="1146199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691633"/>
            </a:solidFill>
            <a:ln cap="flat" cmpd="sng" w="952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t/>
              </a:r>
              <a:endParaRPr b="0" i="0" sz="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38"/>
            <p:cNvSpPr/>
            <p:nvPr/>
          </p:nvSpPr>
          <p:spPr>
            <a:xfrm>
              <a:off x="304400" y="1038050"/>
              <a:ext cx="5088600" cy="6738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 cap="flat" cmpd="sng" w="28575">
              <a:solidFill>
                <a:srgbClr val="69163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lang="en" sz="1000">
                  <a:solidFill>
                    <a:srgbClr val="140A14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REFERENCES</a:t>
              </a:r>
              <a:endParaRPr sz="1000">
                <a:solidFill>
                  <a:srgbClr val="140A14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</p:grpSp>
      <p:sp>
        <p:nvSpPr>
          <p:cNvPr id="659" name="Google Shape;659;p38"/>
          <p:cNvSpPr txBox="1"/>
          <p:nvPr/>
        </p:nvSpPr>
        <p:spPr>
          <a:xfrm>
            <a:off x="669850" y="872125"/>
            <a:ext cx="8370900" cy="3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2250" lvl="0" marL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AutoNum type="arabicPeriod"/>
            </a:pPr>
            <a:r>
              <a:rPr lang="en" sz="1100">
                <a:solidFill>
                  <a:srgbClr val="272525"/>
                </a:solidFill>
              </a:rPr>
              <a:t>Goodfellow, I., Bengio, Y., &amp; Courville, A. (2016). _Deep Learning_. MIT Press</a:t>
            </a:r>
            <a:endParaRPr sz="1100">
              <a:solidFill>
                <a:srgbClr val="272525"/>
              </a:solidFill>
            </a:endParaRPr>
          </a:p>
          <a:p>
            <a:pPr indent="-222250" lvl="0" marL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AutoNum type="arabicPeriod"/>
            </a:pPr>
            <a:r>
              <a:rPr lang="en" sz="1100">
                <a:solidFill>
                  <a:srgbClr val="272525"/>
                </a:solidFill>
              </a:rPr>
              <a:t>LeCun, Y., Bengio, Y., &amp; Hinton, G. (2015). "Deep learning." _Nature_, 521(7553), 436-444.</a:t>
            </a:r>
            <a:endParaRPr sz="1100">
              <a:solidFill>
                <a:srgbClr val="272525"/>
              </a:solidFill>
            </a:endParaRPr>
          </a:p>
          <a:p>
            <a:pPr indent="-222250" lvl="0" marL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AutoNum type="arabicPeriod"/>
            </a:pPr>
            <a:r>
              <a:rPr lang="en" sz="1100">
                <a:solidFill>
                  <a:srgbClr val="272525"/>
                </a:solidFill>
              </a:rPr>
              <a:t>Domingos, P. (2015). _The Master Algorithm: How the Quest for the Ultimate Learning Machine Will Remake Our World_. Basic Books.</a:t>
            </a:r>
            <a:endParaRPr sz="1100">
              <a:solidFill>
                <a:srgbClr val="272525"/>
              </a:solidFill>
            </a:endParaRPr>
          </a:p>
          <a:p>
            <a:pPr indent="-222250" lvl="0" marL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AutoNum type="arabicPeriod"/>
            </a:pPr>
            <a:r>
              <a:rPr lang="en" sz="1100">
                <a:solidFill>
                  <a:srgbClr val="272525"/>
                </a:solidFill>
              </a:rPr>
              <a:t>Strubell, E., Ganesh, A., &amp; McCallum, A. (2019). "Energy and policy considerations for deep learning in NLP." _arXiv preprint arXiv:1906.02243_.</a:t>
            </a:r>
            <a:endParaRPr sz="1100">
              <a:solidFill>
                <a:srgbClr val="272525"/>
              </a:solidFill>
            </a:endParaRPr>
          </a:p>
          <a:p>
            <a:pPr indent="-222250" lvl="0" marL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AutoNum type="arabicPeriod"/>
            </a:pPr>
            <a:r>
              <a:rPr lang="en" sz="1100">
                <a:solidFill>
                  <a:srgbClr val="272525"/>
                </a:solidFill>
              </a:rPr>
              <a:t>O’Neil, C. (2016). _Weapons of Math Destruction: How Big Data Increases Inequality and Threatens Democracy_. Crown Publishing Group.</a:t>
            </a:r>
            <a:endParaRPr sz="1100">
              <a:solidFill>
                <a:srgbClr val="272525"/>
              </a:solidFill>
            </a:endParaRPr>
          </a:p>
          <a:p>
            <a:pPr indent="-222250" lvl="0" marL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Aston Zhang, Zachary C. Lipton, Mu Li, &amp; Alexander J. Smola. (2023). </a:t>
            </a:r>
            <a:r>
              <a:rPr i="1" lang="en" sz="1100">
                <a:solidFill>
                  <a:schemeClr val="dk1"/>
                </a:solidFill>
              </a:rPr>
              <a:t>Dive into deep learning</a:t>
            </a:r>
            <a:r>
              <a:rPr lang="en" sz="1100">
                <a:solidFill>
                  <a:schemeClr val="dk1"/>
                </a:solidFill>
              </a:rPr>
              <a:t>. D2L.ai. </a:t>
            </a:r>
            <a:r>
              <a:rPr lang="en" sz="11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https://d2l.ai/index.html</a:t>
            </a:r>
            <a:endParaRPr sz="1100">
              <a:solidFill>
                <a:schemeClr val="dk1"/>
              </a:solidFill>
            </a:endParaRPr>
          </a:p>
          <a:p>
            <a:pPr indent="-222250" lvl="0" marL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Amazon Web Services. (n.d.). </a:t>
            </a:r>
            <a:r>
              <a:rPr i="1" lang="en" sz="1100">
                <a:solidFill>
                  <a:schemeClr val="dk1"/>
                </a:solidFill>
              </a:rPr>
              <a:t>What is a neural network?</a:t>
            </a: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https://aws.amazon.com/what-is/neural-network/</a:t>
            </a:r>
            <a:endParaRPr sz="1100">
              <a:solidFill>
                <a:schemeClr val="dk1"/>
              </a:solidFill>
            </a:endParaRPr>
          </a:p>
          <a:p>
            <a:pPr indent="-222250" lvl="0" marL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GeeksforGeeks. (2024). </a:t>
            </a:r>
            <a:r>
              <a:rPr i="1" lang="en" sz="1100">
                <a:solidFill>
                  <a:schemeClr val="dk1"/>
                </a:solidFill>
              </a:rPr>
              <a:t>Neural networks: A beginner's guide</a:t>
            </a:r>
            <a:r>
              <a:rPr lang="en" sz="1100">
                <a:solidFill>
                  <a:schemeClr val="dk1"/>
                </a:solidFill>
              </a:rPr>
              <a:t>. </a:t>
            </a:r>
            <a:r>
              <a:rPr lang="en" sz="1100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https://www.geeksforgeeks.org/neural-networks-a-beginners-guide/</a:t>
            </a:r>
            <a:endParaRPr sz="1100">
              <a:solidFill>
                <a:schemeClr val="dk1"/>
              </a:solidFill>
            </a:endParaRPr>
          </a:p>
          <a:p>
            <a:pPr indent="-222250" lvl="0" marL="215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100"/>
              <a:buAutoNum type="arabicPeriod"/>
            </a:pPr>
            <a:r>
              <a:rPr lang="en" sz="1100">
                <a:solidFill>
                  <a:schemeClr val="dk1"/>
                </a:solidFill>
              </a:rPr>
              <a:t>Coursera. (2024, April 10). </a:t>
            </a:r>
            <a:r>
              <a:rPr i="1" lang="en" sz="1100">
                <a:solidFill>
                  <a:schemeClr val="dk1"/>
                </a:solidFill>
              </a:rPr>
              <a:t>Neural network examples, applications, and use cases</a:t>
            </a:r>
            <a:r>
              <a:rPr lang="en" sz="1100">
                <a:solidFill>
                  <a:schemeClr val="dk1"/>
                </a:solidFill>
              </a:rPr>
              <a:t>. </a:t>
            </a:r>
            <a:r>
              <a:rPr lang="en" sz="1100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https://www.coursera.org/articles/neural-network-example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